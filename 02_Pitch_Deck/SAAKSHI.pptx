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aakshi_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aakshi_de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D98A2B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685800" y="1428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2A3450"/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679704" y="1070610"/>
            <a:ext cx="6019983" cy="234696"/>
            <a:chOff x="679704" y="1070610"/>
            <a:chExt cx="6019983" cy="234696"/>
          </a:xfrm>
        </p:grpSpPr>
        <p:sp>
          <p:nvSpPr>
            <p:cNvPr id="4" name="TextBox 4"/>
            <p:cNvSpPr txBox="1"/>
            <p:nvPr/>
          </p:nvSpPr>
          <p:spPr>
            <a:xfrm>
              <a:off x="679704" y="1070610"/>
              <a:ext cx="60199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225" dirty="0">
                  <a:solidFill>
                    <a:srgbClr val="D98A2B"/>
                  </a:solidFill>
                  <a:latin typeface="Segoe UI"/>
                  <a:ea typeface="Segoe UI"/>
                  <a:cs typeface="Segoe UI"/>
                </a:rPr>
                <a:t>TECHGIG × OPTUM · INCLUSIVE INNOVATION FOR BHARAT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66750" y="1939290"/>
            <a:ext cx="5441472" cy="1504950"/>
            <a:chOff x="666750" y="1939290"/>
            <a:chExt cx="5441472" cy="1504950"/>
          </a:xfrm>
        </p:grpSpPr>
        <p:sp>
          <p:nvSpPr>
            <p:cNvPr id="6" name="TextBox 6"/>
            <p:cNvSpPr txBox="1"/>
            <p:nvPr/>
          </p:nvSpPr>
          <p:spPr>
            <a:xfrm>
              <a:off x="666750" y="1939290"/>
              <a:ext cx="5441472" cy="1504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800" b="1" spc="300" dirty="0">
                  <a:solidFill>
                    <a:srgbClr val="F4F0E6"/>
                  </a:solidFill>
                  <a:latin typeface="Georgia"/>
                  <a:ea typeface="Georgia"/>
                  <a:cs typeface="Georgia"/>
                </a:rPr>
                <a:t>SAAKSHI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9610" y="3219450"/>
            <a:ext cx="3990609" cy="863251"/>
            <a:chOff x="689610" y="3219450"/>
            <a:chExt cx="3990609" cy="863251"/>
          </a:xfrm>
        </p:grpSpPr>
        <p:sp>
          <p:nvSpPr>
            <p:cNvPr id="8" name="TextBox 8"/>
            <p:cNvSpPr txBox="1"/>
            <p:nvPr/>
          </p:nvSpPr>
          <p:spPr>
            <a:xfrm>
              <a:off x="689610" y="32194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3000" dirty="0">
                  <a:solidFill>
                    <a:srgbClr val="D98A2B"/>
                  </a:solidFill>
                  <a:latin typeface="Nirmala UI"/>
                  <a:ea typeface="Nirmala UI"/>
                  <a:cs typeface="Nirmala UI"/>
                </a:rPr>
                <a:t>साक्षी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94563" y="3686651"/>
              <a:ext cx="3985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i="1" dirty="0">
                  <a:solidFill>
                    <a:srgbClr val="C9CEDA"/>
                  </a:solidFill>
                  <a:latin typeface="Georgia"/>
                  <a:ea typeface="Georgia"/>
                  <a:cs typeface="Georgia"/>
                </a:rPr>
                <a:t>the witness for every rupee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7799" y="4344829"/>
            <a:ext cx="8333359" cy="955738"/>
            <a:chOff x="677799" y="4344829"/>
            <a:chExt cx="8333359" cy="955738"/>
          </a:xfrm>
        </p:grpSpPr>
        <p:sp>
          <p:nvSpPr>
            <p:cNvPr id="11" name="TextBox 11"/>
            <p:cNvSpPr txBox="1"/>
            <p:nvPr/>
          </p:nvSpPr>
          <p:spPr>
            <a:xfrm>
              <a:off x="677799" y="4344829"/>
              <a:ext cx="8333359" cy="9557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158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A read-only forensic and accountability layer over India's public spending data —</a:t>
              </a:r>
              <a:br/>
              <a:r>
                <a:rPr lang="en-US" sz="158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it joins the portals into one evidence graph, runs four independent fraud detectors,</a:t>
              </a:r>
              <a:br/>
              <a:r>
                <a:rPr lang="en-US" sz="158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and lets any citizen call a toll-free number, in her own language, to start a clock.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85800" y="5638800"/>
            <a:ext cx="9848850" cy="457200"/>
            <a:chOff x="685800" y="5638800"/>
            <a:chExt cx="9848850" cy="457200"/>
          </a:xfrm>
        </p:grpSpPr>
        <p:sp>
          <p:nvSpPr>
            <p:cNvPr id="13" name="Rectangle 13"/>
            <p:cNvSpPr/>
            <p:nvPr/>
          </p:nvSpPr>
          <p:spPr>
            <a:xfrm>
              <a:off x="685800" y="5638800"/>
              <a:ext cx="3905250" cy="457200"/>
            </a:xfrm>
            <a:prstGeom prst="roundRect">
              <a:avLst>
                <a:gd name="adj" fmla="val 12500"/>
              </a:avLst>
            </a:prstGeom>
            <a:solidFill>
              <a:srgbClr val="1D2740"/>
            </a:solidFill>
            <a:ln w="9525">
              <a:solidFill>
                <a:srgbClr val="2A345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89254" y="5795010"/>
              <a:ext cx="3504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Theme 05 · GovTech &amp; Public Service Delivery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781550" y="5638800"/>
              <a:ext cx="2171700" cy="457200"/>
            </a:xfrm>
            <a:prstGeom prst="roundRect">
              <a:avLst>
                <a:gd name="adj" fmla="val 12500"/>
              </a:avLst>
            </a:prstGeom>
            <a:solidFill>
              <a:srgbClr val="1D2740"/>
            </a:solidFill>
            <a:ln w="9525">
              <a:solidFill>
                <a:srgbClr val="2A345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985004" y="5795010"/>
              <a:ext cx="13161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MIT Open Source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143750" y="5638800"/>
              <a:ext cx="3390900" cy="457200"/>
            </a:xfrm>
            <a:prstGeom prst="roundRect">
              <a:avLst>
                <a:gd name="adj" fmla="val 12500"/>
              </a:avLst>
            </a:prstGeom>
            <a:solidFill>
              <a:srgbClr val="1D2740"/>
            </a:solidFill>
            <a:ln w="9525">
              <a:solidFill>
                <a:srgbClr val="2A345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347204" y="5795010"/>
              <a:ext cx="31277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Prototype-ready · runs in one command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5884" y="659606"/>
            <a:ext cx="9031437" cy="777145"/>
            <a:chOff x="595884" y="659606"/>
            <a:chExt cx="9031437" cy="777145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59606"/>
              <a:ext cx="1135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225" dirty="0">
                  <a:solidFill>
                    <a:srgbClr val="D98A2B"/>
                  </a:solidFill>
                  <a:latin typeface="Segoe UI"/>
                  <a:ea typeface="Segoe UI"/>
                  <a:cs typeface="Segoe UI"/>
                </a:rPr>
                <a:t>THE THESIS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884" y="908685"/>
              <a:ext cx="903143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The audit that took months is four batch jobs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2742" y="1587818"/>
            <a:ext cx="10516314" cy="264033"/>
            <a:chOff x="602742" y="1587818"/>
            <a:chExt cx="10516314" cy="264033"/>
          </a:xfrm>
        </p:grpSpPr>
        <p:sp>
          <p:nvSpPr>
            <p:cNvPr id="5" name="TextBox 5"/>
            <p:cNvSpPr txBox="1"/>
            <p:nvPr/>
          </p:nvSpPr>
          <p:spPr>
            <a:xfrm>
              <a:off x="602742" y="1587818"/>
              <a:ext cx="10516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In March 2026 the CAG caught roughly ₹1.19 crore of MGNREGA fraud in a 39-panchayat sample — by hand. Look at how.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1981200"/>
            <a:ext cx="10972800" cy="361950"/>
            <a:chOff x="609600" y="1981200"/>
            <a:chExt cx="10972800" cy="361950"/>
          </a:xfrm>
        </p:grpSpPr>
        <p:sp>
          <p:nvSpPr>
            <p:cNvPr id="7" name="Rectangle 7"/>
            <p:cNvSpPr/>
            <p:nvPr/>
          </p:nvSpPr>
          <p:spPr>
            <a:xfrm>
              <a:off x="609600" y="1981200"/>
              <a:ext cx="5181600" cy="361950"/>
            </a:xfrm>
            <a:prstGeom prst="roundRect">
              <a:avLst>
                <a:gd name="adj" fmla="val 10526"/>
              </a:avLst>
            </a:prstGeom>
            <a:solidFill>
              <a:srgbClr val="202A3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3435" y="2097881"/>
              <a:ext cx="19811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rgbClr val="F4F0E6"/>
                  </a:solidFill>
                  <a:latin typeface="Segoe UI"/>
                  <a:ea typeface="Segoe UI"/>
                  <a:cs typeface="Segoe UI"/>
                </a:rPr>
                <a:t>WHAT CAG DID, BY HAND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400800" y="1981200"/>
              <a:ext cx="5181600" cy="361950"/>
            </a:xfrm>
            <a:prstGeom prst="roundRect">
              <a:avLst>
                <a:gd name="adj" fmla="val 10526"/>
              </a:avLst>
            </a:prstGeom>
            <a:solidFill>
              <a:srgbClr val="2C648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04635" y="2097881"/>
              <a:ext cx="17758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rgbClr val="F4F0E6"/>
                  </a:solidFill>
                  <a:latin typeface="Segoe UI"/>
                  <a:ea typeface="Segoe UI"/>
                  <a:cs typeface="Segoe UI"/>
                </a:rPr>
                <a:t>WHAT IT ACTUALLY IS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2438400"/>
            <a:ext cx="10972800" cy="781050"/>
            <a:chOff x="609600" y="2438400"/>
            <a:chExt cx="10972800" cy="781050"/>
          </a:xfrm>
        </p:grpSpPr>
        <p:sp>
          <p:nvSpPr>
            <p:cNvPr id="12" name="Rectangle 12"/>
            <p:cNvSpPr/>
            <p:nvPr/>
          </p:nvSpPr>
          <p:spPr>
            <a:xfrm>
              <a:off x="609600" y="2438400"/>
              <a:ext cx="5181600" cy="781050"/>
            </a:xfrm>
            <a:prstGeom prst="roundRect">
              <a:avLst>
                <a:gd name="adj" fmla="val 7317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2673" y="2643664"/>
              <a:ext cx="3467354" cy="477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8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Noticed the same photograph reused across</a:t>
              </a:r>
              <a:br/>
              <a:r>
                <a:rPr lang="en-US" sz="128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different construction "stages"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52744" y="26279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D98A2B"/>
                  </a:solidFill>
                  <a:latin typeface="Segoe UI"/>
                  <a:ea typeface="Segoe UI"/>
                  <a:cs typeface="Segoe UI"/>
                </a:rPr>
                <a:t>→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400800" y="2438400"/>
              <a:ext cx="5181600" cy="781050"/>
            </a:xfrm>
            <a:prstGeom prst="roundRect">
              <a:avLst>
                <a:gd name="adj" fmla="val 7317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03492" y="2635568"/>
              <a:ext cx="1881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Perceptual hashing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04635" y="2907506"/>
              <a:ext cx="34997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>~40 lines of Python · millions of images in hours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3333750"/>
            <a:ext cx="10972800" cy="781050"/>
            <a:chOff x="609600" y="3333750"/>
            <a:chExt cx="10972800" cy="781050"/>
          </a:xfrm>
        </p:grpSpPr>
        <p:sp>
          <p:nvSpPr>
            <p:cNvPr id="19" name="Rectangle 19"/>
            <p:cNvSpPr/>
            <p:nvPr/>
          </p:nvSpPr>
          <p:spPr>
            <a:xfrm>
              <a:off x="609600" y="3333750"/>
              <a:ext cx="5181600" cy="781050"/>
            </a:xfrm>
            <a:prstGeom prst="roundRect">
              <a:avLst>
                <a:gd name="adj" fmla="val 7317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2673" y="3539014"/>
              <a:ext cx="3191002" cy="477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8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Opened Google Earth to check whether a</a:t>
              </a:r>
              <a:br/>
              <a:r>
                <a:rPr lang="en-US" sz="128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structure actually existed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52744" y="35232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D98A2B"/>
                  </a:solidFill>
                  <a:latin typeface="Segoe UI"/>
                  <a:ea typeface="Segoe UI"/>
                  <a:cs typeface="Segoe UI"/>
                </a:rPr>
                <a:t>→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400800" y="3333750"/>
              <a:ext cx="5181600" cy="781050"/>
            </a:xfrm>
            <a:prstGeom prst="roundRect">
              <a:avLst>
                <a:gd name="adj" fmla="val 7317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03492" y="3530918"/>
              <a:ext cx="38383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Bi-temporal satellite change detection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04635" y="3802856"/>
              <a:ext cx="29040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>free Sentinel-2 · published open models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" y="4229100"/>
            <a:ext cx="10972800" cy="781050"/>
            <a:chOff x="609600" y="4229100"/>
            <a:chExt cx="10972800" cy="781050"/>
          </a:xfrm>
        </p:grpSpPr>
        <p:sp>
          <p:nvSpPr>
            <p:cNvPr id="26" name="Rectangle 26"/>
            <p:cNvSpPr/>
            <p:nvPr/>
          </p:nvSpPr>
          <p:spPr>
            <a:xfrm>
              <a:off x="609600" y="4229100"/>
              <a:ext cx="5181600" cy="781050"/>
            </a:xfrm>
            <a:prstGeom prst="roundRect">
              <a:avLst>
                <a:gd name="adj" fmla="val 7317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2673" y="4434364"/>
              <a:ext cx="3296666" cy="477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8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Spotted a check dam split in two to dodge</a:t>
              </a:r>
              <a:br/>
              <a:r>
                <a:rPr lang="en-US" sz="128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the tender threshold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52744" y="44186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D98A2B"/>
                  </a:solidFill>
                  <a:latin typeface="Segoe UI"/>
                  <a:ea typeface="Segoe UI"/>
                  <a:cs typeface="Segoe UI"/>
                </a:rPr>
                <a:t>→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400800" y="4229100"/>
              <a:ext cx="5181600" cy="781050"/>
            </a:xfrm>
            <a:prstGeom prst="roundRect">
              <a:avLst>
                <a:gd name="adj" fmla="val 7317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03492" y="4426268"/>
              <a:ext cx="28924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A GROUP BY and a histogram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04635" y="4698206"/>
              <a:ext cx="21901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>threshold-splitting detection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9600" y="5124450"/>
            <a:ext cx="10972800" cy="781050"/>
            <a:chOff x="609600" y="5124450"/>
            <a:chExt cx="10972800" cy="781050"/>
          </a:xfrm>
        </p:grpSpPr>
        <p:sp>
          <p:nvSpPr>
            <p:cNvPr id="33" name="Rectangle 33"/>
            <p:cNvSpPr/>
            <p:nvPr/>
          </p:nvSpPr>
          <p:spPr>
            <a:xfrm>
              <a:off x="609600" y="5124450"/>
              <a:ext cx="5181600" cy="781050"/>
            </a:xfrm>
            <a:prstGeom prst="roundRect">
              <a:avLst>
                <a:gd name="adj" fmla="val 7317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12673" y="5329714"/>
              <a:ext cx="3020314" cy="477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8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Found materials "purchased after the</a:t>
              </a:r>
              <a:br/>
              <a:r>
                <a:rPr lang="en-US" sz="128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project was already completed"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952744" y="53139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D98A2B"/>
                  </a:solidFill>
                  <a:latin typeface="Segoe UI"/>
                  <a:ea typeface="Segoe UI"/>
                  <a:cs typeface="Segoe UI"/>
                </a:rPr>
                <a:t>→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00800" y="5124450"/>
              <a:ext cx="5181600" cy="781050"/>
            </a:xfrm>
            <a:prstGeom prst="roundRect">
              <a:avLst>
                <a:gd name="adj" fmla="val 7317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03492" y="5321618"/>
              <a:ext cx="1813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A date comparison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04635" y="5593556"/>
              <a:ext cx="20468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>temporal consistency check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3123" y="6076950"/>
            <a:ext cx="10984230" cy="397478"/>
            <a:chOff x="603123" y="6076950"/>
            <a:chExt cx="10984230" cy="397478"/>
          </a:xfrm>
        </p:grpSpPr>
        <p:sp>
          <p:nvSpPr>
            <p:cNvPr id="40" name="Line 40"/>
            <p:cNvSpPr/>
            <p:nvPr/>
          </p:nvSpPr>
          <p:spPr>
            <a:xfrm>
              <a:off x="609600" y="6076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BE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3123" y="6225064"/>
              <a:ext cx="47654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i="1" dirty="0">
                  <a:solidFill>
                    <a:srgbClr val="C0392B"/>
                  </a:solidFill>
                  <a:latin typeface="Georgia"/>
                  <a:ea typeface="Georgia"/>
                  <a:cs typeface="Georgia"/>
                </a:rPr>
                <a:t>Every one is a batch job. Not one runs in India today.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61454" y="6257449"/>
              <a:ext cx="3425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>CAG MGNREGA Karnataka audit · tabled 24 March 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7027" y="659606"/>
            <a:ext cx="10696291" cy="893350"/>
            <a:chOff x="597027" y="659606"/>
            <a:chExt cx="10696291" cy="893350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59606"/>
              <a:ext cx="13685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225" dirty="0">
                  <a:solidFill>
                    <a:srgbClr val="D98A2B"/>
                  </a:solidFill>
                  <a:latin typeface="Segoe UI"/>
                  <a:ea typeface="Segoe UI"/>
                  <a:cs typeface="Segoe UI"/>
                </a:rPr>
                <a:t>THE PROBLEM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7027" y="932974"/>
              <a:ext cx="10696291" cy="484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8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Detection is supply-constrained. Follow-up doesn't exist.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3504" y="1318260"/>
              <a:ext cx="76173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>Every number below is from a live government portal or a tabled CAG report — see RESEARCH.md.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1714500"/>
            <a:ext cx="3390900" cy="1562100"/>
            <a:chOff x="609600" y="1714500"/>
            <a:chExt cx="3390900" cy="1562100"/>
          </a:xfrm>
        </p:grpSpPr>
        <p:sp>
          <p:nvSpPr>
            <p:cNvPr id="6" name="Rectangle 6"/>
            <p:cNvSpPr/>
            <p:nvPr/>
          </p:nvSpPr>
          <p:spPr>
            <a:xfrm>
              <a:off x="609600" y="1714500"/>
              <a:ext cx="3390900" cy="1562100"/>
            </a:xfrm>
            <a:prstGeom prst="roundRect">
              <a:avLst>
                <a:gd name="adj" fmla="val 4878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714500"/>
              <a:ext cx="57150" cy="1562100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8200" y="1987868"/>
              <a:ext cx="395425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350" b="1" dirty="0">
                  <a:solidFill>
                    <a:srgbClr val="C0392B"/>
                  </a:solidFill>
                  <a:latin typeface="Georgia"/>
                  <a:ea typeface="Georgia"/>
                  <a:cs typeface="Georgia"/>
                </a:rPr>
                <a:t>0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51154" y="2689860"/>
              <a:ext cx="2671572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20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Action Taken Reports filed against</a:t>
              </a:r>
              <a:br/>
              <a:r>
                <a:rPr lang="en-US" sz="120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62,745 recorded audit observations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2297" y="3057049"/>
              <a:ext cx="16737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i="1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AuditOnline · verified live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00550" y="1714500"/>
            <a:ext cx="3390900" cy="1562100"/>
            <a:chOff x="4400550" y="1714500"/>
            <a:chExt cx="3390900" cy="1562100"/>
          </a:xfrm>
        </p:grpSpPr>
        <p:sp>
          <p:nvSpPr>
            <p:cNvPr id="12" name="Rectangle 12"/>
            <p:cNvSpPr/>
            <p:nvPr/>
          </p:nvSpPr>
          <p:spPr>
            <a:xfrm>
              <a:off x="4400550" y="1714500"/>
              <a:ext cx="3390900" cy="1562100"/>
            </a:xfrm>
            <a:prstGeom prst="roundRect">
              <a:avLst>
                <a:gd name="adj" fmla="val 4878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400550" y="1714500"/>
              <a:ext cx="57150" cy="1562100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29150" y="1987868"/>
              <a:ext cx="1597335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350" b="1" dirty="0">
                  <a:solidFill>
                    <a:srgbClr val="C0392B"/>
                  </a:solidFill>
                  <a:latin typeface="Georgia"/>
                  <a:ea typeface="Georgia"/>
                  <a:cs typeface="Georgia"/>
                </a:rPr>
                <a:t>&lt;13%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42104" y="2689860"/>
              <a:ext cx="2823972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20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of detected MGNREGA fraud recovered</a:t>
              </a:r>
              <a:br/>
              <a:r>
                <a:rPr lang="en-US" sz="120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in 6 years — ≈ ₹878 crore untraced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43247" y="3057049"/>
              <a:ext cx="1445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i="1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Govt social-audit data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91500" y="1714500"/>
            <a:ext cx="3390900" cy="1562100"/>
            <a:chOff x="8191500" y="1714500"/>
            <a:chExt cx="3390900" cy="1562100"/>
          </a:xfrm>
        </p:grpSpPr>
        <p:sp>
          <p:nvSpPr>
            <p:cNvPr id="18" name="Rectangle 18"/>
            <p:cNvSpPr/>
            <p:nvPr/>
          </p:nvSpPr>
          <p:spPr>
            <a:xfrm>
              <a:off x="8191500" y="1714500"/>
              <a:ext cx="3390900" cy="1562100"/>
            </a:xfrm>
            <a:prstGeom prst="roundRect">
              <a:avLst>
                <a:gd name="adj" fmla="val 4878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191500" y="1714500"/>
              <a:ext cx="57150" cy="1562100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20100" y="1987868"/>
              <a:ext cx="395425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350" b="1" dirty="0">
                  <a:solidFill>
                    <a:srgbClr val="C0392B"/>
                  </a:solidFill>
                  <a:latin typeface="Georgia"/>
                  <a:ea typeface="Georgia"/>
                  <a:cs typeface="Georgia"/>
                </a:rPr>
                <a:t>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33054" y="2689860"/>
              <a:ext cx="2625852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20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inbound voice channels for scheme-</a:t>
              </a:r>
              <a:br/>
              <a:r>
                <a:rPr lang="en-US" sz="120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spending data anywhere in India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34197" y="3057049"/>
              <a:ext cx="23815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i="1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CPGRAMS call centre is outbound only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3448050"/>
            <a:ext cx="5334000" cy="1314450"/>
            <a:chOff x="609600" y="3448050"/>
            <a:chExt cx="5334000" cy="1314450"/>
          </a:xfrm>
        </p:grpSpPr>
        <p:sp>
          <p:nvSpPr>
            <p:cNvPr id="24" name="Rectangle 24"/>
            <p:cNvSpPr/>
            <p:nvPr/>
          </p:nvSpPr>
          <p:spPr>
            <a:xfrm>
              <a:off x="609600" y="3448050"/>
              <a:ext cx="5334000" cy="1314450"/>
            </a:xfrm>
            <a:prstGeom prst="roundRect">
              <a:avLst>
                <a:gd name="adj" fmla="val 5797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19150" y="3709988"/>
              <a:ext cx="1998345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750" b="1" dirty="0">
                  <a:solidFill>
                    <a:srgbClr val="D98A2B"/>
                  </a:solidFill>
                  <a:latin typeface="Georgia"/>
                  <a:ea typeface="Georgia"/>
                  <a:cs typeface="Georgia"/>
                </a:rPr>
                <a:t>38.58%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51023" y="3824764"/>
              <a:ext cx="307721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-US" sz="128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of panchayats audited in FY2025-26 —</a:t>
              </a:r>
              <a:br/>
              <a:r>
                <a:rPr lang="en-US" sz="128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and that alone surfaced 61,347 cases.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852166" y="4458652"/>
              <a:ext cx="29766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>Coverage is the ceiling, not the difficulty.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248400" y="3448050"/>
            <a:ext cx="5334000" cy="1314450"/>
            <a:chOff x="6248400" y="3448050"/>
            <a:chExt cx="5334000" cy="1314450"/>
          </a:xfrm>
        </p:grpSpPr>
        <p:sp>
          <p:nvSpPr>
            <p:cNvPr id="29" name="Rectangle 29"/>
            <p:cNvSpPr/>
            <p:nvPr/>
          </p:nvSpPr>
          <p:spPr>
            <a:xfrm>
              <a:off x="6248400" y="3448050"/>
              <a:ext cx="5334000" cy="1314450"/>
            </a:xfrm>
            <a:prstGeom prst="roundRect">
              <a:avLst>
                <a:gd name="adj" fmla="val 5797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57950" y="3709988"/>
              <a:ext cx="654177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750" b="1" dirty="0">
                  <a:solidFill>
                    <a:srgbClr val="D98A2B"/>
                  </a:solidFill>
                  <a:latin typeface="Georgia"/>
                  <a:ea typeface="Georgia"/>
                  <a:cs typeface="Georgia"/>
                </a:rPr>
                <a:t>11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37323" y="3824764"/>
              <a:ext cx="32235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-US" sz="128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public portals, LGD-keyed since Nov 2016</a:t>
              </a:r>
            </a:p>
            <a:p>
              <a:pPr algn="l">
                <a:lnSpc>
                  <a:spcPts val="1725"/>
                </a:lnSpc>
              </a:pPr>
              <a:r>
                <a:rPr lang="en-US" sz="128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— never joined into one citizen view.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38466" y="4458652"/>
              <a:ext cx="2748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>The join key exists. Nobody did the join.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4953000"/>
            <a:ext cx="10972800" cy="1066800"/>
            <a:chOff x="609600" y="4953000"/>
            <a:chExt cx="10972800" cy="1066800"/>
          </a:xfrm>
        </p:grpSpPr>
        <p:sp>
          <p:nvSpPr>
            <p:cNvPr id="34" name="Rectangle 34"/>
            <p:cNvSpPr/>
            <p:nvPr/>
          </p:nvSpPr>
          <p:spPr>
            <a:xfrm>
              <a:off x="609600" y="4953000"/>
              <a:ext cx="10972800" cy="1066800"/>
            </a:xfrm>
            <a:prstGeom prst="roundRect">
              <a:avLst>
                <a:gd name="adj" fmla="val 7143"/>
              </a:avLst>
            </a:prstGeom>
            <a:solidFill>
              <a:srgbClr val="202A3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6018" y="5213032"/>
              <a:ext cx="104008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i="1" dirty="0">
                  <a:solidFill>
                    <a:srgbClr val="F4F0E6"/>
                  </a:solidFill>
                  <a:latin typeface="Georgia"/>
                  <a:ea typeface="Georgia"/>
                  <a:cs typeface="Georgia"/>
                </a:rPr>
                <a:t>India is not failing to find corruption because it is hard to find. It is failing because there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6018" y="5536882"/>
              <a:ext cx="80903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i="1" dirty="0">
                  <a:solidFill>
                    <a:srgbClr val="F4F0E6"/>
                  </a:solidFill>
                  <a:latin typeface="Georgia"/>
                  <a:ea typeface="Georgia"/>
                  <a:cs typeface="Georgia"/>
                </a:rPr>
                <a:t>are not enough auditors — and the ones there are do the work by hand.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4838" y="6191250"/>
            <a:ext cx="10982325" cy="326707"/>
            <a:chOff x="604838" y="6191250"/>
            <a:chExt cx="10982325" cy="326707"/>
          </a:xfrm>
        </p:grpSpPr>
        <p:sp>
          <p:nvSpPr>
            <p:cNvPr id="38" name="Line 38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B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4838" y="6341745"/>
              <a:ext cx="22866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SAAKSHI — the witness for every rupee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81032" y="6341745"/>
              <a:ext cx="25061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GovTech &amp; Public Service Delivery · 03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6646" y="659606"/>
            <a:ext cx="10063863" cy="764001"/>
            <a:chOff x="596646" y="659606"/>
            <a:chExt cx="10063863" cy="764001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59606"/>
              <a:ext cx="14994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225" dirty="0">
                  <a:solidFill>
                    <a:srgbClr val="D98A2B"/>
                  </a:solidFill>
                  <a:latin typeface="Segoe UI"/>
                  <a:ea typeface="Segoe UI"/>
                  <a:cs typeface="Segoe UI"/>
                </a:rPr>
                <a:t>THE LAST MILE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924878"/>
              <a:ext cx="100638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Meet Lakshmi. Nobody has ever asked her a question.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1695450"/>
            <a:ext cx="4953000" cy="3733800"/>
            <a:chOff x="609600" y="1695450"/>
            <a:chExt cx="4953000" cy="3733800"/>
          </a:xfrm>
        </p:grpSpPr>
        <p:sp>
          <p:nvSpPr>
            <p:cNvPr id="5" name="Rectangle 5"/>
            <p:cNvSpPr/>
            <p:nvPr/>
          </p:nvSpPr>
          <p:spPr>
            <a:xfrm>
              <a:off x="609600" y="1695450"/>
              <a:ext cx="4953000" cy="3733800"/>
            </a:xfrm>
            <a:prstGeom prst="roundRect">
              <a:avLst>
                <a:gd name="adj" fmla="val 2041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49249" y="1944529"/>
              <a:ext cx="429605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Lakshmi, 42 · Kalaburagi, Karnataka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50773" y="2396014"/>
              <a:ext cx="3077210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2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She works under MGNREGA when work is</a:t>
              </a:r>
              <a:br/>
              <a:r>
                <a:rPr lang="en-US" sz="12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available. She has a job card.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50773" y="3024664"/>
              <a:ext cx="3353562" cy="744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2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She cannot read English and reads Kannada</a:t>
              </a:r>
              <a:br/>
              <a:r>
                <a:rPr lang="en-US" sz="12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slowly. She does not own a smartphone —</a:t>
              </a:r>
              <a:br/>
              <a:r>
                <a:rPr lang="en-US" sz="12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her son does, and he works in Bengaluru.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50773" y="3958114"/>
              <a:ext cx="3629914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2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Her panchayat was sanctioned ₹4.2 lakh for</a:t>
              </a:r>
              <a:br/>
              <a:r>
                <a:rPr lang="en-US" sz="12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a farm pond. It was marked complete in June.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0392" y="4731068"/>
              <a:ext cx="385419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350" i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She walks past that spot twice a day —</a:t>
              </a:r>
              <a:br/>
              <a:r>
                <a:rPr lang="en-US" sz="1350" i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and nobody has ever asked her what she sees.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14085" y="1783556"/>
            <a:ext cx="4234592" cy="220028"/>
            <a:chOff x="6014085" y="1783556"/>
            <a:chExt cx="4234592" cy="220028"/>
          </a:xfrm>
        </p:grpSpPr>
        <p:sp>
          <p:nvSpPr>
            <p:cNvPr id="12" name="TextBox 12"/>
            <p:cNvSpPr txBox="1"/>
            <p:nvPr/>
          </p:nvSpPr>
          <p:spPr>
            <a:xfrm>
              <a:off x="6014085" y="1783556"/>
              <a:ext cx="42345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50" dirty="0">
                  <a:solidFill>
                    <a:srgbClr val="C0392B"/>
                  </a:solidFill>
                  <a:latin typeface="Segoe UI"/>
                  <a:ea typeface="Segoe UI"/>
                  <a:cs typeface="Segoe UI"/>
                </a:rPr>
                <a:t>WHY EVERY TRANSPARENCY APP EXCLUDES HER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19800" y="2076450"/>
            <a:ext cx="5562600" cy="742950"/>
            <a:chOff x="6019800" y="2076450"/>
            <a:chExt cx="5562600" cy="742950"/>
          </a:xfrm>
        </p:grpSpPr>
        <p:sp>
          <p:nvSpPr>
            <p:cNvPr id="14" name="Rectangle 14"/>
            <p:cNvSpPr/>
            <p:nvPr/>
          </p:nvSpPr>
          <p:spPr>
            <a:xfrm>
              <a:off x="6019800" y="2076450"/>
              <a:ext cx="5562600" cy="742950"/>
            </a:xfrm>
            <a:prstGeom prst="roundRect">
              <a:avLst>
                <a:gd name="adj" fmla="val 7692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19444" y="2189798"/>
              <a:ext cx="87895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48.4%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33285" y="2240756"/>
              <a:ext cx="37807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of rural women 15+ own a mobile phone —</a:t>
              </a:r>
              <a:br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against 85.5% of households. Apps assume the device.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19800" y="2914650"/>
            <a:ext cx="5562600" cy="742950"/>
            <a:chOff x="6019800" y="2914650"/>
            <a:chExt cx="5562600" cy="742950"/>
          </a:xfrm>
        </p:grpSpPr>
        <p:sp>
          <p:nvSpPr>
            <p:cNvPr id="18" name="Rectangle 18"/>
            <p:cNvSpPr/>
            <p:nvPr/>
          </p:nvSpPr>
          <p:spPr>
            <a:xfrm>
              <a:off x="6019800" y="2914650"/>
              <a:ext cx="5562600" cy="742950"/>
            </a:xfrm>
            <a:prstGeom prst="roundRect">
              <a:avLst>
                <a:gd name="adj" fmla="val 7692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19444" y="3027998"/>
              <a:ext cx="55859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56%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33285" y="3078956"/>
              <a:ext cx="343941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of Indians are not Hindi mother-tongue speakers.</a:t>
              </a:r>
              <a:br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Portals are English-first.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19800" y="3752850"/>
            <a:ext cx="5562600" cy="742950"/>
            <a:chOff x="6019800" y="3752850"/>
            <a:chExt cx="5562600" cy="742950"/>
          </a:xfrm>
        </p:grpSpPr>
        <p:sp>
          <p:nvSpPr>
            <p:cNvPr id="22" name="Rectangle 22"/>
            <p:cNvSpPr/>
            <p:nvPr/>
          </p:nvSpPr>
          <p:spPr>
            <a:xfrm>
              <a:off x="6019800" y="3752850"/>
              <a:ext cx="5562600" cy="742950"/>
            </a:xfrm>
            <a:prstGeom prst="roundRect">
              <a:avLst>
                <a:gd name="adj" fmla="val 7692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19444" y="3866198"/>
              <a:ext cx="87895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49.1%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33285" y="3917156"/>
              <a:ext cx="353898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of rural women 15+ cannot send a file attachment.</a:t>
              </a:r>
              <a:br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Photo-upload cannot be the entry point.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19800" y="4591050"/>
            <a:ext cx="5562600" cy="927258"/>
            <a:chOff x="6019800" y="4591050"/>
            <a:chExt cx="5562600" cy="927258"/>
          </a:xfrm>
        </p:grpSpPr>
        <p:sp>
          <p:nvSpPr>
            <p:cNvPr id="26" name="Rectangle 26"/>
            <p:cNvSpPr/>
            <p:nvPr/>
          </p:nvSpPr>
          <p:spPr>
            <a:xfrm>
              <a:off x="6019800" y="4591050"/>
              <a:ext cx="5562600" cy="838200"/>
            </a:xfrm>
            <a:prstGeom prst="roundRect">
              <a:avLst>
                <a:gd name="adj" fmla="val 6818"/>
              </a:avLst>
            </a:prstGeom>
            <a:solidFill>
              <a:srgbClr val="202A3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21730" y="4791075"/>
              <a:ext cx="21022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4F0E6"/>
                  </a:solidFill>
                  <a:latin typeface="Georgia"/>
                  <a:ea typeface="Georgia"/>
                  <a:cs typeface="Georgia"/>
                </a:rPr>
                <a:t>Fear of retaliation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23635" y="5098256"/>
              <a:ext cx="383057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Nobody reports the patwari to the patwari. Anonymity</a:t>
              </a:r>
              <a:br/>
              <a:r>
                <a:rPr lang="en-US" sz="112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is not a feature here — it is the whole system working.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191250"/>
            <a:ext cx="10982325" cy="326707"/>
            <a:chOff x="604838" y="6191250"/>
            <a:chExt cx="10982325" cy="326707"/>
          </a:xfrm>
        </p:grpSpPr>
        <p:sp>
          <p:nvSpPr>
            <p:cNvPr id="30" name="Line 30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B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4838" y="6341745"/>
              <a:ext cx="22866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SAAKSHI — the witness for every rupee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81032" y="6341745"/>
              <a:ext cx="25061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GovTech &amp; Public Service Delivery · 04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6646" y="659606"/>
            <a:ext cx="8699503" cy="764001"/>
            <a:chOff x="596646" y="659606"/>
            <a:chExt cx="8699503" cy="764001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59606"/>
              <a:ext cx="18296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225" dirty="0">
                  <a:solidFill>
                    <a:srgbClr val="D98A2B"/>
                  </a:solidFill>
                  <a:latin typeface="Segoe UI"/>
                  <a:ea typeface="Segoe UI"/>
                  <a:cs typeface="Segoe UI"/>
                </a:rPr>
                <a:t>THE CORE INSIGHT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924878"/>
              <a:ext cx="86995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Three observations that only matter together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9600" y="1714500"/>
            <a:ext cx="3390900" cy="3790950"/>
            <a:chOff x="609600" y="1714500"/>
            <a:chExt cx="3390900" cy="3790950"/>
          </a:xfrm>
        </p:grpSpPr>
        <p:sp>
          <p:nvSpPr>
            <p:cNvPr id="5" name="Rectangle 5"/>
            <p:cNvSpPr/>
            <p:nvPr/>
          </p:nvSpPr>
          <p:spPr>
            <a:xfrm>
              <a:off x="609600" y="1714500"/>
              <a:ext cx="3390900" cy="3790950"/>
            </a:xfrm>
            <a:prstGeom prst="roundRect">
              <a:avLst>
                <a:gd name="adj" fmla="val 2247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714500"/>
              <a:ext cx="3390900" cy="666750"/>
            </a:xfrm>
            <a:prstGeom prst="roundRect">
              <a:avLst>
                <a:gd name="adj" fmla="val 11429"/>
              </a:avLst>
            </a:prstGeom>
            <a:solidFill>
              <a:srgbClr val="2C6488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2266950"/>
              <a:ext cx="3390900" cy="114300"/>
            </a:xfrm>
            <a:prstGeom prst="rect">
              <a:avLst/>
            </a:prstGeom>
            <a:solidFill>
              <a:srgbClr val="2C648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5820" y="1890712"/>
              <a:ext cx="3925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22273" y="1986439"/>
              <a:ext cx="21176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Plumbing, not forensics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1154" y="2689860"/>
              <a:ext cx="2526792" cy="8919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-US" sz="120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India built Aadhaar, DBT, PFMS</a:t>
              </a:r>
              <a:br/>
              <a:r>
                <a:rPr lang="en-US" sz="120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and UPI — extraordinary payment</a:t>
              </a:r>
              <a:br/>
              <a:r>
                <a:rPr lang="en-US" sz="120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rails. It never built the forensics</a:t>
              </a:r>
              <a:br/>
              <a:r>
                <a:rPr lang="en-US" sz="120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layer that sits on top.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1154" y="3985260"/>
              <a:ext cx="2549652" cy="8919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-US" sz="120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Deduplication stops future theft.</a:t>
              </a:r>
              <a:br/>
              <a:r>
                <a:rPr lang="en-US" sz="120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It does not recover money taken,</a:t>
              </a:r>
              <a:br/>
              <a:r>
                <a:rPr lang="en-US" sz="120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name who took it, or verify the</a:t>
              </a:r>
              <a:br/>
              <a:r>
                <a:rPr lang="en-US" sz="120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asset exists.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1154" y="5185410"/>
              <a:ext cx="23628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i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Dedup is not accountability.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400550" y="1714500"/>
            <a:ext cx="3390900" cy="3790950"/>
            <a:chOff x="4400550" y="1714500"/>
            <a:chExt cx="3390900" cy="3790950"/>
          </a:xfrm>
        </p:grpSpPr>
        <p:sp>
          <p:nvSpPr>
            <p:cNvPr id="14" name="Rectangle 14"/>
            <p:cNvSpPr/>
            <p:nvPr/>
          </p:nvSpPr>
          <p:spPr>
            <a:xfrm>
              <a:off x="4400550" y="1714500"/>
              <a:ext cx="3390900" cy="3790950"/>
            </a:xfrm>
            <a:prstGeom prst="roundRect">
              <a:avLst>
                <a:gd name="adj" fmla="val 2247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400550" y="1714500"/>
              <a:ext cx="3390900" cy="666750"/>
            </a:xfrm>
            <a:prstGeom prst="roundRect">
              <a:avLst>
                <a:gd name="adj" fmla="val 11429"/>
              </a:avLst>
            </a:prstGeom>
            <a:solidFill>
              <a:srgbClr val="2C648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400550" y="2266950"/>
              <a:ext cx="3390900" cy="114300"/>
            </a:xfrm>
            <a:prstGeom prst="rect">
              <a:avLst/>
            </a:prstGeom>
            <a:solidFill>
              <a:srgbClr val="2C648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636770" y="1890712"/>
              <a:ext cx="3925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17973" y="1986439"/>
              <a:ext cx="25879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The auditor is the bottleneck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42104" y="2689860"/>
              <a:ext cx="2366772" cy="8919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-US" sz="120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CAG's four methods are a hash,</a:t>
              </a:r>
              <a:br/>
              <a:r>
                <a:rPr lang="en-US" sz="120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a raster diff, a GROUP BY and a</a:t>
              </a:r>
              <a:br/>
              <a:r>
                <a:rPr lang="en-US" sz="120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date comparison. There is no</a:t>
              </a:r>
              <a:br/>
              <a:r>
                <a:rPr lang="en-US" sz="120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research frontier here.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42104" y="3985260"/>
              <a:ext cx="2442972" cy="672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-US" sz="120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The bottleneck is that 38.58%</a:t>
              </a:r>
              <a:br/>
              <a:r>
                <a:rPr lang="en-US" sz="120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coverage is the most humans can</a:t>
              </a:r>
              <a:br/>
              <a:r>
                <a:rPr lang="en-US" sz="120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manage doing it by hand.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42104" y="5185410"/>
              <a:ext cx="23906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i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Compute does not get tired.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91500" y="1714500"/>
            <a:ext cx="3390900" cy="3790950"/>
            <a:chOff x="8191500" y="1714500"/>
            <a:chExt cx="3390900" cy="3790950"/>
          </a:xfrm>
        </p:grpSpPr>
        <p:sp>
          <p:nvSpPr>
            <p:cNvPr id="23" name="Rectangle 23"/>
            <p:cNvSpPr/>
            <p:nvPr/>
          </p:nvSpPr>
          <p:spPr>
            <a:xfrm>
              <a:off x="8191500" y="1714500"/>
              <a:ext cx="3390900" cy="3790950"/>
            </a:xfrm>
            <a:prstGeom prst="roundRect">
              <a:avLst>
                <a:gd name="adj" fmla="val 2247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191500" y="1714500"/>
              <a:ext cx="3390900" cy="666750"/>
            </a:xfrm>
            <a:prstGeom prst="roundRect">
              <a:avLst>
                <a:gd name="adj" fmla="val 11429"/>
              </a:avLst>
            </a:prstGeom>
            <a:solidFill>
              <a:srgbClr val="D98A2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191500" y="2266950"/>
              <a:ext cx="3390900" cy="114300"/>
            </a:xfrm>
            <a:prstGeom prst="rect">
              <a:avLst/>
            </a:prstGeom>
            <a:solidFill>
              <a:srgbClr val="D98A2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27720" y="1890712"/>
              <a:ext cx="3925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08923" y="1986439"/>
              <a:ext cx="19997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The citizen is the label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33054" y="2689860"/>
              <a:ext cx="2618232" cy="672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-US" sz="120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Every procurement-fraud model</a:t>
              </a:r>
              <a:br/>
              <a:r>
                <a:rPr lang="en-US" sz="120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hits the same wall: there are no</a:t>
              </a:r>
              <a:br/>
              <a:r>
                <a:rPr lang="en-US" sz="120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confirmed positives to learn from.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33054" y="3604260"/>
              <a:ext cx="2488692" cy="1110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-US" sz="120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But Lakshmi walks past the pond.</a:t>
              </a:r>
              <a:br/>
              <a:r>
                <a:rPr lang="en-US" sz="120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A verified citizen report is a</a:t>
              </a:r>
              <a:br/>
              <a:r>
                <a:rPr lang="en-US" sz="120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ground-truth label — the exact</a:t>
              </a:r>
              <a:br/>
              <a:r>
                <a:rPr lang="en-US" sz="120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thing the literature says does</a:t>
              </a:r>
              <a:br/>
              <a:r>
                <a:rPr lang="en-US" sz="120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not exist.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33054" y="5185410"/>
              <a:ext cx="2124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i="1" dirty="0">
                  <a:solidFill>
                    <a:srgbClr val="B9761F"/>
                  </a:solidFill>
                  <a:latin typeface="Georgia"/>
                  <a:ea typeface="Georgia"/>
                  <a:cs typeface="Georgia"/>
                </a:rPr>
                <a:t>That is our contribution.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4838" y="6191250"/>
            <a:ext cx="10982325" cy="326707"/>
            <a:chOff x="604838" y="6191250"/>
            <a:chExt cx="10982325" cy="326707"/>
          </a:xfrm>
        </p:grpSpPr>
        <p:sp>
          <p:nvSpPr>
            <p:cNvPr id="32" name="Line 32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B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4838" y="6341745"/>
              <a:ext cx="22866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SAAKSHI — the witness for every rupee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81032" y="6341745"/>
              <a:ext cx="25061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GovTech &amp; Public Service Delivery · 05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6646" y="659606"/>
            <a:ext cx="8094651" cy="893350"/>
            <a:chOff x="596646" y="659606"/>
            <a:chExt cx="8094651" cy="893350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59606"/>
              <a:ext cx="14507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225" dirty="0">
                  <a:solidFill>
                    <a:srgbClr val="D98A2B"/>
                  </a:solidFill>
                  <a:latin typeface="Segoe UI"/>
                  <a:ea typeface="Segoe UI"/>
                  <a:cs typeface="Segoe UI"/>
                </a:rPr>
                <a:t>THE SOLUTION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924878"/>
              <a:ext cx="80946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Six layers over data India already publishes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3504" y="1318260"/>
              <a:ext cx="80196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>A read-only forensic and accountability layer — plus a phone number. It never denies anyone anything.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1657350"/>
            <a:ext cx="10972800" cy="552450"/>
            <a:chOff x="609600" y="1657350"/>
            <a:chExt cx="10972800" cy="552450"/>
          </a:xfrm>
        </p:grpSpPr>
        <p:sp>
          <p:nvSpPr>
            <p:cNvPr id="6" name="Rectangle 6"/>
            <p:cNvSpPr/>
            <p:nvPr/>
          </p:nvSpPr>
          <p:spPr>
            <a:xfrm>
              <a:off x="609600" y="1657350"/>
              <a:ext cx="10972800" cy="552450"/>
            </a:xfrm>
            <a:prstGeom prst="roundRect">
              <a:avLst>
                <a:gd name="adj" fmla="val 10345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57350"/>
              <a:ext cx="2571750" cy="552450"/>
            </a:xfrm>
            <a:prstGeom prst="roundRect">
              <a:avLst>
                <a:gd name="adj" fmla="val 10345"/>
              </a:avLst>
            </a:prstGeom>
            <a:solidFill>
              <a:srgbClr val="EDE6D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9818" y="1831658"/>
              <a:ext cx="10020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KOSH</a:t>
              </a:r>
              <a:r>
                <a:rPr lang="hi-IN" sz="1350" b="1" dirty="0">
                  <a:solidFill>
                    <a:srgbClr val="B9761F"/>
                  </a:solidFill>
                  <a:latin typeface="Nirmala UI"/>
                  <a:ea typeface="Nirmala UI"/>
                  <a:cs typeface="Nirmala UI"/>
                </a:rPr>
                <a:t xml:space="preserve"> कोष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03854" y="1880235"/>
              <a:ext cx="59254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The join.</a:t>
              </a:r>
              <a:r>
                <a:rPr lang="en-US" sz="120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 xml:space="preserve"> 11 public portals into one evidence graph, keyed on the LGD code.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716532" y="1912620"/>
              <a:ext cx="6420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spc="75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DESIGNED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2305050"/>
            <a:ext cx="10972800" cy="552450"/>
            <a:chOff x="609600" y="2305050"/>
            <a:chExt cx="10972800" cy="552450"/>
          </a:xfrm>
        </p:grpSpPr>
        <p:sp>
          <p:nvSpPr>
            <p:cNvPr id="12" name="Rectangle 12"/>
            <p:cNvSpPr/>
            <p:nvPr/>
          </p:nvSpPr>
          <p:spPr>
            <a:xfrm>
              <a:off x="609600" y="2305050"/>
              <a:ext cx="10972800" cy="552450"/>
            </a:xfrm>
            <a:prstGeom prst="roundRect">
              <a:avLst>
                <a:gd name="adj" fmla="val 10345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2305050"/>
              <a:ext cx="2571750" cy="552450"/>
            </a:xfrm>
            <a:prstGeom prst="roundRect">
              <a:avLst>
                <a:gd name="adj" fmla="val 10345"/>
              </a:avLst>
            </a:prstGeom>
            <a:solidFill>
              <a:srgbClr val="EDE6D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0580" y="2495550"/>
              <a:ext cx="20170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CHITRAGUPTA</a:t>
              </a:r>
              <a:r>
                <a:rPr lang="hi-IN" sz="1200" b="1" dirty="0">
                  <a:solidFill>
                    <a:srgbClr val="B9761F"/>
                  </a:solidFill>
                  <a:latin typeface="Nirmala UI"/>
                  <a:ea typeface="Nirmala UI"/>
                  <a:cs typeface="Nirmala UI"/>
                </a:rPr>
                <a:t xml:space="preserve"> चित्रगुप्त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03854" y="2527935"/>
              <a:ext cx="69339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The detectors.</a:t>
              </a:r>
              <a:r>
                <a:rPr lang="en-US" sz="120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 xml:space="preserve"> Network · payment · photo · satellite — four signals, never one score.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544564" y="2560320"/>
              <a:ext cx="813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spc="75" dirty="0">
                  <a:solidFill>
                    <a:srgbClr val="2E8B6B"/>
                  </a:solidFill>
                  <a:latin typeface="Segoe UI"/>
                  <a:ea typeface="Segoe UI"/>
                  <a:cs typeface="Segoe UI"/>
                </a:rPr>
                <a:t>PROTOTYPE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2952750"/>
            <a:ext cx="10972800" cy="552450"/>
            <a:chOff x="609600" y="2952750"/>
            <a:chExt cx="10972800" cy="552450"/>
          </a:xfrm>
        </p:grpSpPr>
        <p:sp>
          <p:nvSpPr>
            <p:cNvPr id="18" name="Rectangle 18"/>
            <p:cNvSpPr/>
            <p:nvPr/>
          </p:nvSpPr>
          <p:spPr>
            <a:xfrm>
              <a:off x="609600" y="2952750"/>
              <a:ext cx="10972800" cy="552450"/>
            </a:xfrm>
            <a:prstGeom prst="roundRect">
              <a:avLst>
                <a:gd name="adj" fmla="val 10345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9600" y="2952750"/>
              <a:ext cx="2571750" cy="552450"/>
            </a:xfrm>
            <a:prstGeom prst="roundRect">
              <a:avLst>
                <a:gd name="adj" fmla="val 10345"/>
              </a:avLst>
            </a:prstGeom>
            <a:solidFill>
              <a:srgbClr val="EDE6D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0580" y="3143250"/>
              <a:ext cx="21204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NAAM-MILAN</a:t>
              </a:r>
              <a:r>
                <a:rPr lang="hi-IN" sz="1200" b="1" dirty="0">
                  <a:solidFill>
                    <a:srgbClr val="B9761F"/>
                  </a:solidFill>
                  <a:latin typeface="Nirmala UI"/>
                  <a:ea typeface="Nirmala UI"/>
                  <a:cs typeface="Nirmala UI"/>
                </a:rPr>
                <a:t xml:space="preserve"> नाम मिलान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03854" y="3175635"/>
              <a:ext cx="61750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The matcher.</a:t>
              </a:r>
              <a:r>
                <a:rPr lang="en-US" sz="120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 xml:space="preserve"> Ghost beneficiaries as a calibrated posterior, never a verdict.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16532" y="3208020"/>
              <a:ext cx="6420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spc="75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DESIGNED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3600450"/>
            <a:ext cx="10972800" cy="552450"/>
            <a:chOff x="609600" y="3600450"/>
            <a:chExt cx="10972800" cy="552450"/>
          </a:xfrm>
        </p:grpSpPr>
        <p:sp>
          <p:nvSpPr>
            <p:cNvPr id="24" name="Rectangle 24"/>
            <p:cNvSpPr/>
            <p:nvPr/>
          </p:nvSpPr>
          <p:spPr>
            <a:xfrm>
              <a:off x="609600" y="3600450"/>
              <a:ext cx="10972800" cy="552450"/>
            </a:xfrm>
            <a:prstGeom prst="roundRect">
              <a:avLst>
                <a:gd name="adj" fmla="val 10345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9600" y="3600450"/>
              <a:ext cx="2571750" cy="552450"/>
            </a:xfrm>
            <a:prstGeom prst="roundRect">
              <a:avLst>
                <a:gd name="adj" fmla="val 10345"/>
              </a:avLst>
            </a:prstGeom>
            <a:solidFill>
              <a:srgbClr val="EDE6D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9818" y="3774758"/>
              <a:ext cx="10320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VAANI</a:t>
              </a:r>
              <a:r>
                <a:rPr lang="hi-IN" sz="1350" b="1" dirty="0">
                  <a:solidFill>
                    <a:srgbClr val="B9761F"/>
                  </a:solidFill>
                  <a:latin typeface="Nirmala UI"/>
                  <a:ea typeface="Nirmala UI"/>
                  <a:cs typeface="Nirmala UI"/>
                </a:rPr>
                <a:t xml:space="preserve"> वाणी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03854" y="3823335"/>
              <a:ext cx="67999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The phone number.</a:t>
              </a:r>
              <a:r>
                <a:rPr lang="en-US" sz="120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 xml:space="preserve"> Toll-free IVR, 12 languages — an intent router, not text-to-SQL.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16532" y="3855720"/>
              <a:ext cx="6420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spc="75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DESIGNED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" y="4248150"/>
            <a:ext cx="10972800" cy="552450"/>
            <a:chOff x="609600" y="4248150"/>
            <a:chExt cx="10972800" cy="552450"/>
          </a:xfrm>
        </p:grpSpPr>
        <p:sp>
          <p:nvSpPr>
            <p:cNvPr id="30" name="Rectangle 30"/>
            <p:cNvSpPr/>
            <p:nvPr/>
          </p:nvSpPr>
          <p:spPr>
            <a:xfrm>
              <a:off x="609600" y="4248150"/>
              <a:ext cx="10972800" cy="552450"/>
            </a:xfrm>
            <a:prstGeom prst="roundRect">
              <a:avLst>
                <a:gd name="adj" fmla="val 10345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9600" y="4248150"/>
              <a:ext cx="2571750" cy="552450"/>
            </a:xfrm>
            <a:prstGeom prst="roundRect">
              <a:avLst>
                <a:gd name="adj" fmla="val 10345"/>
              </a:avLst>
            </a:prstGeom>
            <a:solidFill>
              <a:srgbClr val="EDE6D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29818" y="4422458"/>
              <a:ext cx="15594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PRAMAAN</a:t>
              </a:r>
              <a:r>
                <a:rPr lang="hi-IN" sz="1200" b="1" dirty="0">
                  <a:solidFill>
                    <a:srgbClr val="B9761F"/>
                  </a:solidFill>
                  <a:latin typeface="Nirmala UI"/>
                  <a:ea typeface="Nirmala UI"/>
                  <a:cs typeface="Nirmala UI"/>
                </a:rPr>
                <a:t xml:space="preserve"> प्रमाण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03854" y="4471035"/>
              <a:ext cx="62454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The witness.</a:t>
              </a:r>
              <a:r>
                <a:rPr lang="en-US" sz="120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 xml:space="preserve"> Anonymous citizen verification — reports become training labels.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716532" y="4503420"/>
              <a:ext cx="6420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spc="75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DESIGNED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" y="4895850"/>
            <a:ext cx="10972800" cy="552450"/>
            <a:chOff x="609600" y="4895850"/>
            <a:chExt cx="10972800" cy="552450"/>
          </a:xfrm>
        </p:grpSpPr>
        <p:sp>
          <p:nvSpPr>
            <p:cNvPr id="36" name="Rectangle 36"/>
            <p:cNvSpPr/>
            <p:nvPr/>
          </p:nvSpPr>
          <p:spPr>
            <a:xfrm>
              <a:off x="609600" y="4895850"/>
              <a:ext cx="10972800" cy="552450"/>
            </a:xfrm>
            <a:prstGeom prst="roundRect">
              <a:avLst>
                <a:gd name="adj" fmla="val 10345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9600" y="4895850"/>
              <a:ext cx="2571750" cy="552450"/>
            </a:xfrm>
            <a:prstGeom prst="roundRect">
              <a:avLst>
                <a:gd name="adj" fmla="val 10345"/>
              </a:avLst>
            </a:prstGeom>
            <a:solidFill>
              <a:srgbClr val="EDE6D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9818" y="5070158"/>
              <a:ext cx="10320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GHADI</a:t>
              </a:r>
              <a:r>
                <a:rPr lang="hi-IN" sz="1350" b="1" dirty="0">
                  <a:solidFill>
                    <a:srgbClr val="B9761F"/>
                  </a:solidFill>
                  <a:latin typeface="Nirmala UI"/>
                  <a:ea typeface="Nirmala UI"/>
                  <a:cs typeface="Nirmala UI"/>
                </a:rPr>
                <a:t xml:space="preserve"> घड़ी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403854" y="5118735"/>
              <a:ext cx="55010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The clock.</a:t>
              </a:r>
              <a:r>
                <a:rPr lang="en-US" sz="120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 xml:space="preserve"> Case file, auto-drafted RTI, public statutory countdown.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544564" y="5151120"/>
              <a:ext cx="813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spc="75" dirty="0">
                  <a:solidFill>
                    <a:srgbClr val="2E8B6B"/>
                  </a:solidFill>
                  <a:latin typeface="Segoe UI"/>
                  <a:ea typeface="Segoe UI"/>
                  <a:cs typeface="Segoe UI"/>
                </a:rPr>
                <a:t>PROTOTYPE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9600" y="5562600"/>
            <a:ext cx="11007053" cy="476250"/>
            <a:chOff x="609600" y="5562600"/>
            <a:chExt cx="11007053" cy="476250"/>
          </a:xfrm>
        </p:grpSpPr>
        <p:sp>
          <p:nvSpPr>
            <p:cNvPr id="42" name="Rectangle 42"/>
            <p:cNvSpPr/>
            <p:nvPr/>
          </p:nvSpPr>
          <p:spPr>
            <a:xfrm>
              <a:off x="609600" y="5562600"/>
              <a:ext cx="10972800" cy="476250"/>
            </a:xfrm>
            <a:prstGeom prst="roundRect">
              <a:avLst>
                <a:gd name="adj" fmla="val 12000"/>
              </a:avLst>
            </a:prstGeom>
            <a:solidFill>
              <a:srgbClr val="202A3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08685" y="5650706"/>
              <a:ext cx="107079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D98A2B"/>
                  </a:solidFill>
                  <a:latin typeface="Segoe UI"/>
                  <a:ea typeface="Segoe UI"/>
                  <a:cs typeface="Segoe UI"/>
                </a:rPr>
                <a:t>The closed loop —</a:t>
              </a:r>
              <a:r>
                <a:rPr lang="en-US" sz="1120" dirty="0">
                  <a:solidFill>
                    <a:srgbClr val="F4F0E6"/>
                  </a:solidFill>
                  <a:latin typeface="Segoe UI"/>
                  <a:ea typeface="Segoe UI"/>
                  <a:cs typeface="Segoe UI"/>
                </a:rPr>
                <a:t xml:space="preserve"> verified reports from PRAMAAN retrain CHITRAGUPTA. Built today: the detectors + case file; the rest is specified in PLAN.md.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4838" y="6191250"/>
            <a:ext cx="10982325" cy="326707"/>
            <a:chOff x="604838" y="6191250"/>
            <a:chExt cx="10982325" cy="326707"/>
          </a:xfrm>
        </p:grpSpPr>
        <p:sp>
          <p:nvSpPr>
            <p:cNvPr id="45" name="Line 45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BE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04838" y="6341745"/>
              <a:ext cx="22866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SAAKSHI — the witness for every rupee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81032" y="6341745"/>
              <a:ext cx="25061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GovTech &amp; Public Service Delivery · 06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6646" y="659606"/>
            <a:ext cx="8364501" cy="893350"/>
            <a:chOff x="596646" y="659606"/>
            <a:chExt cx="8364501" cy="893350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59606"/>
              <a:ext cx="14758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225" dirty="0">
                  <a:solidFill>
                    <a:srgbClr val="D98A2B"/>
                  </a:solidFill>
                  <a:latin typeface="Segoe UI"/>
                  <a:ea typeface="Segoe UI"/>
                  <a:cs typeface="Segoe UI"/>
                </a:rPr>
                <a:t>HOW IT WORKS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924878"/>
              <a:ext cx="39660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One case, end to end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3504" y="1318260"/>
              <a:ext cx="83576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>Work KA-KLB-2026-00412 — a ₹4.2 lakh farm pond marked complete — from nightly ingest to a public clock.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2057400"/>
            <a:ext cx="1676400" cy="1562100"/>
            <a:chOff x="609600" y="2057400"/>
            <a:chExt cx="1676400" cy="1562100"/>
          </a:xfrm>
        </p:grpSpPr>
        <p:sp>
          <p:nvSpPr>
            <p:cNvPr id="6" name="Rectangle 6"/>
            <p:cNvSpPr/>
            <p:nvPr/>
          </p:nvSpPr>
          <p:spPr>
            <a:xfrm>
              <a:off x="609600" y="2057400"/>
              <a:ext cx="1676400" cy="1562100"/>
            </a:xfrm>
            <a:prstGeom prst="roundRect">
              <a:avLst>
                <a:gd name="adj" fmla="val 4878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2057400"/>
              <a:ext cx="1676400" cy="323850"/>
            </a:xfrm>
            <a:prstGeom prst="roundRect">
              <a:avLst>
                <a:gd name="adj" fmla="val 23529"/>
              </a:avLst>
            </a:prstGeom>
            <a:solidFill>
              <a:srgbClr val="2C648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2266950"/>
              <a:ext cx="1676400" cy="114300"/>
            </a:xfrm>
            <a:prstGeom prst="rect">
              <a:avLst/>
            </a:prstGeom>
            <a:solidFill>
              <a:srgbClr val="2C648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2172652"/>
              <a:ext cx="6457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PORTALS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7047" y="2637949"/>
              <a:ext cx="1098931" cy="7621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9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11 public sources</a:t>
              </a:r>
              <a:br/>
              <a:r>
                <a:rPr lang="en-US" sz="9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publish the work,</a:t>
              </a:r>
              <a:br/>
              <a:r>
                <a:rPr lang="en-US" sz="9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payments, photos</a:t>
              </a:r>
              <a:br/>
              <a:r>
                <a:rPr lang="en-US" sz="9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and tender.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353818" y="271748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D98A2B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2590800" y="2057400"/>
            <a:ext cx="1676400" cy="1562100"/>
            <a:chOff x="2590800" y="2057400"/>
            <a:chExt cx="1676400" cy="1562100"/>
          </a:xfrm>
        </p:grpSpPr>
        <p:sp>
          <p:nvSpPr>
            <p:cNvPr id="13" name="Rectangle 13"/>
            <p:cNvSpPr/>
            <p:nvPr/>
          </p:nvSpPr>
          <p:spPr>
            <a:xfrm>
              <a:off x="2590800" y="2057400"/>
              <a:ext cx="1676400" cy="1562100"/>
            </a:xfrm>
            <a:prstGeom prst="roundRect">
              <a:avLst>
                <a:gd name="adj" fmla="val 4878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590800" y="2057400"/>
              <a:ext cx="1676400" cy="323850"/>
            </a:xfrm>
            <a:prstGeom prst="roundRect">
              <a:avLst>
                <a:gd name="adj" fmla="val 23529"/>
              </a:avLst>
            </a:prstGeom>
            <a:solidFill>
              <a:srgbClr val="2C648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590800" y="2266950"/>
              <a:ext cx="1676400" cy="114300"/>
            </a:xfrm>
            <a:prstGeom prst="rect">
              <a:avLst/>
            </a:prstGeom>
            <a:solidFill>
              <a:srgbClr val="2C648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737866" y="2172652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KOSH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38247" y="2637949"/>
              <a:ext cx="1049147" cy="7621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9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Joined on the LGD</a:t>
              </a:r>
              <a:br/>
              <a:r>
                <a:rPr lang="en-US" sz="9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code into one</a:t>
              </a:r>
              <a:br/>
              <a:r>
                <a:rPr lang="en-US" sz="9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evidence graph,</a:t>
              </a:r>
              <a:br/>
              <a:r>
                <a:rPr lang="en-US" sz="9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nightly.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4335018" y="271748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D98A2B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4572000" y="2057400"/>
            <a:ext cx="1676400" cy="1562100"/>
            <a:chOff x="4572000" y="2057400"/>
            <a:chExt cx="1676400" cy="1562100"/>
          </a:xfrm>
        </p:grpSpPr>
        <p:sp>
          <p:nvSpPr>
            <p:cNvPr id="20" name="Rectangle 20"/>
            <p:cNvSpPr/>
            <p:nvPr/>
          </p:nvSpPr>
          <p:spPr>
            <a:xfrm>
              <a:off x="4572000" y="2057400"/>
              <a:ext cx="1676400" cy="1562100"/>
            </a:xfrm>
            <a:prstGeom prst="roundRect">
              <a:avLst>
                <a:gd name="adj" fmla="val 4878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572000" y="2057400"/>
              <a:ext cx="1676400" cy="323850"/>
            </a:xfrm>
            <a:prstGeom prst="roundRect">
              <a:avLst>
                <a:gd name="adj" fmla="val 23529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72000" y="2266950"/>
              <a:ext cx="1676400" cy="11430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19066" y="2172652"/>
              <a:ext cx="9202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CHITRAGUPTA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40266" y="2205038"/>
              <a:ext cx="23669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built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19447" y="2637949"/>
              <a:ext cx="1223391" cy="7621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9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3 of 4 detectors</a:t>
              </a:r>
              <a:br/>
              <a:r>
                <a:rPr lang="en-US" sz="9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fire: duplicate</a:t>
              </a:r>
              <a:br/>
              <a:r>
                <a:rPr lang="en-US" sz="9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photo, sole bidder,</a:t>
              </a:r>
              <a:br/>
              <a:r>
                <a:rPr lang="en-US" sz="9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no satellite change.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6316218" y="271748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D98A2B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6553200" y="2057400"/>
            <a:ext cx="1676400" cy="1562100"/>
            <a:chOff x="6553200" y="2057400"/>
            <a:chExt cx="1676400" cy="1562100"/>
          </a:xfrm>
        </p:grpSpPr>
        <p:sp>
          <p:nvSpPr>
            <p:cNvPr id="28" name="Rectangle 28"/>
            <p:cNvSpPr/>
            <p:nvPr/>
          </p:nvSpPr>
          <p:spPr>
            <a:xfrm>
              <a:off x="6553200" y="2057400"/>
              <a:ext cx="1676400" cy="1562100"/>
            </a:xfrm>
            <a:prstGeom prst="roundRect">
              <a:avLst>
                <a:gd name="adj" fmla="val 4878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553200" y="2057400"/>
              <a:ext cx="1676400" cy="323850"/>
            </a:xfrm>
            <a:prstGeom prst="roundRect">
              <a:avLst>
                <a:gd name="adj" fmla="val 23529"/>
              </a:avLst>
            </a:prstGeom>
            <a:solidFill>
              <a:srgbClr val="D98A2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553200" y="2266950"/>
              <a:ext cx="1676400" cy="114300"/>
            </a:xfrm>
            <a:prstGeom prst="rect">
              <a:avLst/>
            </a:prstGeom>
            <a:solidFill>
              <a:srgbClr val="D98A2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00266" y="2172652"/>
              <a:ext cx="402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VAANI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29633" y="2205038"/>
              <a:ext cx="42853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designed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00647" y="2637949"/>
              <a:ext cx="980694" cy="7621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9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Lakshmi calls,</a:t>
              </a:r>
              <a:br/>
              <a:r>
                <a:rPr lang="en-US" sz="9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in Kannada:</a:t>
              </a:r>
              <a:br/>
              <a:r>
                <a:rPr lang="en-US" sz="9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"Is there a pond</a:t>
              </a:r>
              <a:br/>
              <a:r>
                <a:rPr lang="en-US" sz="9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at 112/3?"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8297418" y="271748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D98A2B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8534400" y="2057400"/>
            <a:ext cx="1676400" cy="1562100"/>
            <a:chOff x="8534400" y="2057400"/>
            <a:chExt cx="1676400" cy="1562100"/>
          </a:xfrm>
        </p:grpSpPr>
        <p:sp>
          <p:nvSpPr>
            <p:cNvPr id="36" name="Rectangle 36"/>
            <p:cNvSpPr/>
            <p:nvPr/>
          </p:nvSpPr>
          <p:spPr>
            <a:xfrm>
              <a:off x="8534400" y="2057400"/>
              <a:ext cx="1676400" cy="1562100"/>
            </a:xfrm>
            <a:prstGeom prst="roundRect">
              <a:avLst>
                <a:gd name="adj" fmla="val 4878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534400" y="2057400"/>
              <a:ext cx="1676400" cy="323850"/>
            </a:xfrm>
            <a:prstGeom prst="roundRect">
              <a:avLst>
                <a:gd name="adj" fmla="val 23529"/>
              </a:avLst>
            </a:prstGeom>
            <a:solidFill>
              <a:srgbClr val="D98A2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534400" y="2266950"/>
              <a:ext cx="1676400" cy="114300"/>
            </a:xfrm>
            <a:prstGeom prst="rect">
              <a:avLst/>
            </a:prstGeom>
            <a:solidFill>
              <a:srgbClr val="D98A2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681466" y="2172652"/>
              <a:ext cx="6457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PRAMAAN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10833" y="2205038"/>
              <a:ext cx="42853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designed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681847" y="2637949"/>
              <a:ext cx="1186053" cy="7621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9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She presses 2 — no.</a:t>
              </a:r>
              <a:br/>
              <a:r>
                <a:rPr lang="en-US" sz="9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Anonymous, Sybil-</a:t>
              </a:r>
              <a:br/>
              <a:r>
                <a:rPr lang="en-US" sz="9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checked. That is</a:t>
              </a:r>
              <a:br/>
              <a:r>
                <a:rPr lang="en-US" sz="9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the label.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0278618" y="271748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D98A2B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0515600" y="2057400"/>
            <a:ext cx="1066800" cy="1562100"/>
            <a:chOff x="10515600" y="2057400"/>
            <a:chExt cx="1066800" cy="1562100"/>
          </a:xfrm>
        </p:grpSpPr>
        <p:sp>
          <p:nvSpPr>
            <p:cNvPr id="44" name="Rectangle 44"/>
            <p:cNvSpPr/>
            <p:nvPr/>
          </p:nvSpPr>
          <p:spPr>
            <a:xfrm>
              <a:off x="10515600" y="2057400"/>
              <a:ext cx="1066800" cy="1562100"/>
            </a:xfrm>
            <a:prstGeom prst="roundRect">
              <a:avLst>
                <a:gd name="adj" fmla="val 7143"/>
              </a:avLst>
            </a:prstGeom>
            <a:solidFill>
              <a:srgbClr val="202A3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662666" y="2172652"/>
              <a:ext cx="402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GHADI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663047" y="2637949"/>
              <a:ext cx="837565" cy="7621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98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Case file</a:t>
              </a:r>
              <a:br/>
              <a:r>
                <a:rPr lang="en-US" sz="98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opens. RTI</a:t>
              </a:r>
              <a:br/>
              <a:r>
                <a:rPr lang="en-US" sz="98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filed. 30-day</a:t>
              </a:r>
              <a:br/>
              <a:r>
                <a:rPr lang="en-US" sz="98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clock starts.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9600" y="3924300"/>
            <a:ext cx="10972800" cy="1066800"/>
            <a:chOff x="609600" y="3924300"/>
            <a:chExt cx="10972800" cy="1066800"/>
          </a:xfrm>
        </p:grpSpPr>
        <p:sp>
          <p:nvSpPr>
            <p:cNvPr id="48" name="Rectangle 48"/>
            <p:cNvSpPr/>
            <p:nvPr/>
          </p:nvSpPr>
          <p:spPr>
            <a:xfrm>
              <a:off x="609600" y="3924300"/>
              <a:ext cx="10972800" cy="1066800"/>
            </a:xfrm>
            <a:prstGeom prst="roundRect">
              <a:avLst>
                <a:gd name="adj" fmla="val 7143"/>
              </a:avLst>
            </a:prstGeom>
            <a:solidFill>
              <a:srgbClr val="EDE6D6"/>
            </a:solidFill>
            <a:ln w="19050">
              <a:solidFill>
                <a:srgbClr val="D98A2B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06780" y="4143375"/>
              <a:ext cx="43549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B9761F"/>
                  </a:solidFill>
                  <a:latin typeface="Georgia"/>
                  <a:ea typeface="Georgia"/>
                  <a:cs typeface="Georgia"/>
                </a:rPr>
                <a:t>The loop that is the actual contribution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07923" y="4491514"/>
              <a:ext cx="8738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Lakshmi's verified report becomes a Positive-Unlabeled training label that retrains CHITRAGUPTA. More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7923" y="4720114"/>
              <a:ext cx="88501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reports → a better model → better-targeted questions → more useful reports. Nobody has published this.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1980" y="5362575"/>
            <a:ext cx="7149465" cy="560070"/>
            <a:chOff x="601980" y="5362575"/>
            <a:chExt cx="7149465" cy="560070"/>
          </a:xfrm>
        </p:grpSpPr>
        <p:sp>
          <p:nvSpPr>
            <p:cNvPr id="53" name="TextBox 53"/>
            <p:cNvSpPr txBox="1"/>
            <p:nvPr/>
          </p:nvSpPr>
          <p:spPr>
            <a:xfrm>
              <a:off x="601980" y="5362575"/>
              <a:ext cx="71494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i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Every citizen-facing number is deterministic — same question, same answer,</a:t>
              </a:r>
              <a:br/>
              <a:r>
                <a:rPr lang="en-US" sz="1500" i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in about 100 seconds of Lakshmi's time.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4838" y="6191250"/>
            <a:ext cx="10982325" cy="326707"/>
            <a:chOff x="604838" y="6191250"/>
            <a:chExt cx="10982325" cy="326707"/>
          </a:xfrm>
        </p:grpSpPr>
        <p:sp>
          <p:nvSpPr>
            <p:cNvPr id="55" name="Line 55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BE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04838" y="6341745"/>
              <a:ext cx="22866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SAAKSHI — the witness for every rupee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081032" y="6341745"/>
              <a:ext cx="25061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GovTech &amp; Public Service Delivery · 07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6646" y="659606"/>
            <a:ext cx="8641114" cy="893350"/>
            <a:chOff x="596646" y="659606"/>
            <a:chExt cx="8641114" cy="893350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59606"/>
              <a:ext cx="22351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225" dirty="0">
                  <a:solidFill>
                    <a:srgbClr val="D98A2B"/>
                  </a:solidFill>
                  <a:latin typeface="Segoe UI"/>
                  <a:ea typeface="Segoe UI"/>
                  <a:cs typeface="Segoe UI"/>
                </a:rPr>
                <a:t>PROTOTYPE · IT RUNS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924878"/>
              <a:ext cx="84731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Not a mockup: it re-derives the CAG findings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3504" y="1318260"/>
              <a:ext cx="8634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>The demo reconstructs the March 2026 CAG Karnataka audit as data, then makes the detectors find it — live.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9600" y="1695450"/>
            <a:ext cx="6248400" cy="4267200"/>
            <a:chOff x="609600" y="1695450"/>
            <a:chExt cx="6248400" cy="4267200"/>
          </a:xfrm>
        </p:grpSpPr>
        <p:sp>
          <p:nvSpPr>
            <p:cNvPr id="6" name="Rectangle 6"/>
            <p:cNvSpPr/>
            <p:nvPr/>
          </p:nvSpPr>
          <p:spPr>
            <a:xfrm>
              <a:off x="609600" y="1695450"/>
              <a:ext cx="6248400" cy="4267200"/>
            </a:xfrm>
            <a:prstGeom prst="roundRect">
              <a:avLst>
                <a:gd name="adj" fmla="val 1786"/>
              </a:avLst>
            </a:prstGeom>
            <a:solidFill>
              <a:srgbClr val="0E1524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95450"/>
              <a:ext cx="6248400" cy="323850"/>
            </a:xfrm>
            <a:prstGeom prst="roundRect">
              <a:avLst>
                <a:gd name="adj" fmla="val 23529"/>
              </a:avLst>
            </a:prstGeom>
            <a:solidFill>
              <a:srgbClr val="1D274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1905000"/>
              <a:ext cx="6248400" cy="114300"/>
            </a:xfrm>
            <a:prstGeom prst="rect">
              <a:avLst/>
            </a:prstGeom>
            <a:solidFill>
              <a:srgbClr val="1D2740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790575" y="1809750"/>
              <a:ext cx="95250" cy="9525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62025" y="1809750"/>
              <a:ext cx="95250" cy="95250"/>
            </a:xfrm>
            <a:prstGeom prst="ellipse">
              <a:avLst/>
            </a:prstGeom>
            <a:solidFill>
              <a:srgbClr val="D98A2B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133475" y="1809750"/>
              <a:ext cx="95250" cy="95250"/>
            </a:xfrm>
            <a:prstGeom prst="ellipse">
              <a:avLst/>
            </a:prstGeom>
            <a:solidFill>
              <a:srgbClr val="2E8B6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23797" y="1799749"/>
              <a:ext cx="13093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8A94AC"/>
                  </a:solidFill>
                  <a:latin typeface="Consolas"/>
                  <a:ea typeface="Consolas"/>
                  <a:cs typeface="Consolas"/>
                </a:rPr>
                <a:t>python run_demo.py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2866" y="2248852"/>
              <a:ext cx="25337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9CEDA"/>
                  </a:solidFill>
                  <a:latin typeface="Consolas"/>
                  <a:ea typeface="Consolas"/>
                  <a:cs typeface="Consolas"/>
                </a:rPr>
                <a:t>corpus: 484 works · 1,304 payments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2866" y="2458402"/>
              <a:ext cx="17351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8A94AC"/>
                  </a:solidFill>
                  <a:latin typeface="Consolas"/>
                  <a:ea typeface="Consolas"/>
                  <a:cs typeface="Consolas"/>
                </a:rPr>
                <a:t>418 photos · 509 tenders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3438" y="2665095"/>
              <a:ext cx="28809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E7A94"/>
                  </a:solidFill>
                  <a:latin typeface="Consolas"/>
                  <a:ea typeface="Consolas"/>
                  <a:cs typeface="Consolas"/>
                </a:rPr>
                <a:t>synthetic CAG reconstruction — not live-scraped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2866" y="2858452"/>
              <a:ext cx="30014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D6A0"/>
                  </a:solidFill>
                  <a:latin typeface="Consolas"/>
                  <a:ea typeface="Consolas"/>
                  <a:cs typeface="Consolas"/>
                </a:rPr>
                <a:t>[PASS] photo reused across two CAG works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2866" y="3125152"/>
              <a:ext cx="32156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D6A0"/>
                  </a:solidFill>
                  <a:latin typeface="Consolas"/>
                  <a:ea typeface="Consolas"/>
                  <a:cs typeface="Consolas"/>
                </a:rPr>
                <a:t>[PASS] impossible itinerary: Redmi 9A, 8 sites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2866" y="3391852"/>
              <a:ext cx="29339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D6A0"/>
                  </a:solidFill>
                  <a:latin typeface="Consolas"/>
                  <a:ea typeface="Consolas"/>
                  <a:cs typeface="Consolas"/>
                </a:rPr>
                <a:t>[PASS] threshold split (Koppal check dam)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2866" y="3658552"/>
              <a:ext cx="29658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D6A0"/>
                  </a:solidFill>
                  <a:latin typeface="Consolas"/>
                  <a:ea typeface="Consolas"/>
                  <a:cs typeface="Consolas"/>
                </a:rPr>
                <a:t>[PASS] temporal impossibility count == 462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2866" y="3925252"/>
              <a:ext cx="27349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D6A0"/>
                  </a:solidFill>
                  <a:latin typeface="Consolas"/>
                  <a:ea typeface="Consolas"/>
                  <a:cs typeface="Consolas"/>
                </a:rPr>
                <a:t>[PASS] sole-bidder vendor won 11 of 16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2866" y="4363402"/>
              <a:ext cx="2576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0912F"/>
                  </a:solidFill>
                  <a:latin typeface="Consolas"/>
                  <a:ea typeface="Consolas"/>
                  <a:cs typeface="Consolas"/>
                </a:rPr>
                <a:t>462 stage payments after completion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2866" y="4572952"/>
              <a:ext cx="32193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8A94AC"/>
                  </a:solidFill>
                  <a:latin typeface="Consolas"/>
                  <a:ea typeface="Consolas"/>
                  <a:cs typeface="Consolas"/>
                </a:rPr>
                <a:t>total ₹1.19 crore → matches the seeded figure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2485" y="5022056"/>
              <a:ext cx="20824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BD6A0"/>
                  </a:solidFill>
                  <a:latin typeface="Consolas"/>
                  <a:ea typeface="Consolas"/>
                  <a:cs typeface="Consolas"/>
                </a:rPr>
                <a:t>RESULT: ALL CHECKS PASSED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3247" y="5285899"/>
              <a:ext cx="29517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8A94AC"/>
                  </a:solidFill>
                  <a:latin typeface="Consolas"/>
                  <a:ea typeface="Consolas"/>
                  <a:cs typeface="Consolas"/>
                </a:rPr>
                <a:t>detectors re-derived the seeded CAG findings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3247" y="5628799"/>
              <a:ext cx="21680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5BD6A0"/>
                  </a:solidFill>
                  <a:latin typeface="Consolas"/>
                  <a:ea typeface="Consolas"/>
                  <a:cs typeface="Consolas"/>
                </a:rPr>
                <a:t>$ python -m unittest -&gt; 10/10 OK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086600" y="1695450"/>
            <a:ext cx="4495800" cy="1276350"/>
            <a:chOff x="7086600" y="1695450"/>
            <a:chExt cx="4495800" cy="1276350"/>
          </a:xfrm>
        </p:grpSpPr>
        <p:sp>
          <p:nvSpPr>
            <p:cNvPr id="27" name="Rectangle 27"/>
            <p:cNvSpPr/>
            <p:nvPr/>
          </p:nvSpPr>
          <p:spPr>
            <a:xfrm>
              <a:off x="7086600" y="1695450"/>
              <a:ext cx="4495800" cy="1276350"/>
            </a:xfrm>
            <a:prstGeom prst="roundRect">
              <a:avLst>
                <a:gd name="adj" fmla="val 5970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307580" y="1857375"/>
              <a:ext cx="19258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A judge can run it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09485" y="2221706"/>
              <a:ext cx="2386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C6488"/>
                  </a:solidFill>
                  <a:latin typeface="Consolas"/>
                  <a:ea typeface="Consolas"/>
                  <a:cs typeface="Consolas"/>
                </a:rPr>
                <a:t>git clone &amp;&amp; python run_demo.py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09485" y="2526506"/>
              <a:ext cx="297713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Zero pip installs. No network. No API keys.</a:t>
              </a:r>
              <a:br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Pure Python standard library.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086600" y="3086100"/>
            <a:ext cx="4495800" cy="1276350"/>
            <a:chOff x="7086600" y="3086100"/>
            <a:chExt cx="4495800" cy="1276350"/>
          </a:xfrm>
        </p:grpSpPr>
        <p:sp>
          <p:nvSpPr>
            <p:cNvPr id="32" name="Rectangle 32"/>
            <p:cNvSpPr/>
            <p:nvPr/>
          </p:nvSpPr>
          <p:spPr>
            <a:xfrm>
              <a:off x="7086600" y="3086100"/>
              <a:ext cx="4495800" cy="1276350"/>
            </a:xfrm>
            <a:prstGeom prst="roundRect">
              <a:avLst>
                <a:gd name="adj" fmla="val 5970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307580" y="3248025"/>
              <a:ext cx="31784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Deterministic by design (R1)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09485" y="3612356"/>
              <a:ext cx="3048254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Every citizen-facing number is a perceptual</a:t>
              </a:r>
              <a:br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hash, a date comparison, or a GROUP BY —</a:t>
              </a:r>
              <a:br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re-run it and it never changes.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086600" y="4476750"/>
            <a:ext cx="4495800" cy="1504950"/>
            <a:chOff x="7086600" y="4476750"/>
            <a:chExt cx="4495800" cy="1504950"/>
          </a:xfrm>
        </p:grpSpPr>
        <p:sp>
          <p:nvSpPr>
            <p:cNvPr id="36" name="Rectangle 36"/>
            <p:cNvSpPr/>
            <p:nvPr/>
          </p:nvSpPr>
          <p:spPr>
            <a:xfrm>
              <a:off x="7086600" y="4476750"/>
              <a:ext cx="4495800" cy="1504950"/>
            </a:xfrm>
            <a:prstGeom prst="roundRect">
              <a:avLst>
                <a:gd name="adj" fmla="val 5063"/>
              </a:avLst>
            </a:prstGeom>
            <a:solidFill>
              <a:srgbClr val="202A3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307580" y="4638675"/>
              <a:ext cx="24635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4F0E6"/>
                  </a:solidFill>
                  <a:latin typeface="Georgia"/>
                  <a:ea typeface="Georgia"/>
                  <a:cs typeface="Georgia"/>
                </a:rPr>
                <a:t>Honest about the data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09485" y="5003006"/>
              <a:ext cx="3489198" cy="820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The bundled dataset is a synthetic reconstruction</a:t>
              </a:r>
              <a:br/>
              <a:r>
                <a:rPr lang="en-US" sz="112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of published CAG findings, not live-scraped data.</a:t>
              </a:r>
              <a:br/>
              <a:r>
                <a:rPr lang="en-US" sz="112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Live ingest (KOSH) crawls the real portals; that</a:t>
              </a:r>
              <a:br/>
              <a:r>
                <a:rPr lang="en-US" sz="112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is out of scope for a zero-network demo.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4838" y="6191250"/>
            <a:ext cx="10982325" cy="326707"/>
            <a:chOff x="604838" y="6191250"/>
            <a:chExt cx="10982325" cy="326707"/>
          </a:xfrm>
        </p:grpSpPr>
        <p:sp>
          <p:nvSpPr>
            <p:cNvPr id="40" name="Line 40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BE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4838" y="6341745"/>
              <a:ext cx="22866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SAAKSHI — the witness for every rupee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81032" y="6341745"/>
              <a:ext cx="25061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GovTech &amp; Public Service Delivery · 08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6646" y="659606"/>
            <a:ext cx="8990376" cy="893350"/>
            <a:chOff x="596646" y="659606"/>
            <a:chExt cx="8990376" cy="893350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59606"/>
              <a:ext cx="3376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225" dirty="0">
                  <a:solidFill>
                    <a:srgbClr val="D98A2B"/>
                  </a:solidFill>
                  <a:latin typeface="Segoe UI"/>
                  <a:ea typeface="Segoe UI"/>
                  <a:cs typeface="Segoe UI"/>
                </a:rPr>
                <a:t>PROTOTYPE · WHAT IT PRODUCES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924878"/>
              <a:ext cx="5429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Analytics India has never run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3504" y="1318260"/>
              <a:ext cx="89835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>Real output from the prototype run on the synthetic CAG-retrospective corpus — deterministic and reproducible.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1695450"/>
            <a:ext cx="5867400" cy="4267200"/>
            <a:chOff x="609600" y="1695450"/>
            <a:chExt cx="5867400" cy="4267200"/>
          </a:xfrm>
        </p:grpSpPr>
        <p:sp>
          <p:nvSpPr>
            <p:cNvPr id="6" name="Rectangle 6"/>
            <p:cNvSpPr/>
            <p:nvPr/>
          </p:nvSpPr>
          <p:spPr>
            <a:xfrm>
              <a:off x="609600" y="1695450"/>
              <a:ext cx="5867400" cy="4267200"/>
            </a:xfrm>
            <a:prstGeom prst="roundRect">
              <a:avLst>
                <a:gd name="adj" fmla="val 1786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0580" y="1857375"/>
              <a:ext cx="37954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India's first single-bid-rate table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2866" y="2134552"/>
              <a:ext cx="52856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>The indicator no Indian body publishes — shown here on the synthetic corpus.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400300"/>
              <a:ext cx="5410200" cy="323850"/>
            </a:xfrm>
            <a:prstGeom prst="rect">
              <a:avLst/>
            </a:prstGeom>
            <a:solidFill>
              <a:srgbClr val="202A3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5266" y="2506028"/>
              <a:ext cx="6750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4F0E6"/>
                  </a:solidFill>
                  <a:latin typeface="Consolas"/>
                  <a:ea typeface="Consolas"/>
                  <a:cs typeface="Consolas"/>
                </a:rPr>
                <a:t>org_chain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71416" y="25060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4F0E6"/>
                  </a:solidFill>
                  <a:latin typeface="Consolas"/>
                  <a:ea typeface="Consolas"/>
                  <a:cs typeface="Consolas"/>
                </a:rPr>
                <a:t>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47666" y="2506028"/>
              <a:ext cx="6820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4F0E6"/>
                  </a:solidFill>
                  <a:latin typeface="Consolas"/>
                  <a:ea typeface="Consolas"/>
                  <a:cs typeface="Consolas"/>
                </a:rPr>
                <a:t>single-bid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5266" y="2934652"/>
              <a:ext cx="16812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392B"/>
                  </a:solidFill>
                  <a:latin typeface="Consolas"/>
                  <a:ea typeface="Consolas"/>
                  <a:cs typeface="Consolas"/>
                </a:rPr>
                <a:t>RDPR::Koppal::Yelburga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71416" y="29346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A5162"/>
                  </a:solidFill>
                  <a:latin typeface="Consolas"/>
                  <a:ea typeface="Consolas"/>
                  <a:cs typeface="Consolas"/>
                </a:rPr>
                <a:t>16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47666" y="2934652"/>
              <a:ext cx="427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392B"/>
                  </a:solidFill>
                  <a:latin typeface="Consolas"/>
                  <a:ea typeface="Consolas"/>
                  <a:cs typeface="Consolas"/>
                </a:rPr>
                <a:t>68.8%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5266" y="3239452"/>
              <a:ext cx="20618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392B"/>
                  </a:solidFill>
                  <a:latin typeface="Consolas"/>
                  <a:ea typeface="Consolas"/>
                  <a:cs typeface="Consolas"/>
                </a:rPr>
                <a:t>RDPR::Kalaburagi::Kamalapur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71416" y="32394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A5162"/>
                  </a:solidFill>
                  <a:latin typeface="Consolas"/>
                  <a:ea typeface="Consolas"/>
                  <a:cs typeface="Consolas"/>
                </a:rPr>
                <a:t>23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47666" y="3239452"/>
              <a:ext cx="427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392B"/>
                  </a:solidFill>
                  <a:latin typeface="Consolas"/>
                  <a:ea typeface="Consolas"/>
                  <a:cs typeface="Consolas"/>
                </a:rPr>
                <a:t>52.2%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5266" y="3544252"/>
              <a:ext cx="15139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A5162"/>
                  </a:solidFill>
                  <a:latin typeface="Consolas"/>
                  <a:ea typeface="Consolas"/>
                  <a:cs typeface="Consolas"/>
                </a:rPr>
                <a:t>PWD::Ballari::Sandur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71416" y="35442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A5162"/>
                  </a:solidFill>
                  <a:latin typeface="Consolas"/>
                  <a:ea typeface="Consolas"/>
                  <a:cs typeface="Consolas"/>
                </a:rPr>
                <a:t>41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47666" y="3544252"/>
              <a:ext cx="427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A5162"/>
                  </a:solidFill>
                  <a:latin typeface="Consolas"/>
                  <a:ea typeface="Consolas"/>
                  <a:cs typeface="Consolas"/>
                </a:rPr>
                <a:t>31.7%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838200" y="3848100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9525">
              <a:solidFill>
                <a:srgbClr val="D8D0B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85266" y="3982402"/>
              <a:ext cx="12726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02A3E"/>
                  </a:solidFill>
                  <a:latin typeface="Consolas"/>
                  <a:ea typeface="Consolas"/>
                  <a:cs typeface="Consolas"/>
                </a:rPr>
                <a:t>NATIONAL (n=509)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47666" y="3982402"/>
              <a:ext cx="427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02A3E"/>
                  </a:solidFill>
                  <a:latin typeface="Consolas"/>
                  <a:ea typeface="Consolas"/>
                  <a:cs typeface="Consolas"/>
                </a:rPr>
                <a:t>14.0%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838200" y="4305300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9525">
              <a:solidFill>
                <a:srgbClr val="EDE6D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2485" y="4507706"/>
              <a:ext cx="32456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One vendor — "Shri Basava Constructions" 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2485" y="4736306"/>
              <a:ext cx="33661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won 11 of its tenders as the sole bidder, at 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2485" y="4964906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+2.1% average premium over estimate.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2485" y="5364956"/>
              <a:ext cx="36862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i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Also computed: repeat-winner HHI, award-vs-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485" y="5593556"/>
              <a:ext cx="31381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i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estimate variance — all firsts for India.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705600" y="1695450"/>
            <a:ext cx="4876800" cy="2019300"/>
            <a:chOff x="6705600" y="1695450"/>
            <a:chExt cx="4876800" cy="2019300"/>
          </a:xfrm>
        </p:grpSpPr>
        <p:sp>
          <p:nvSpPr>
            <p:cNvPr id="32" name="Rectangle 32"/>
            <p:cNvSpPr/>
            <p:nvPr/>
          </p:nvSpPr>
          <p:spPr>
            <a:xfrm>
              <a:off x="6705600" y="1695450"/>
              <a:ext cx="4876800" cy="2019300"/>
            </a:xfrm>
            <a:prstGeom prst="roundRect">
              <a:avLst>
                <a:gd name="adj" fmla="val 3774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705600" y="1695450"/>
              <a:ext cx="57150" cy="2019300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26580" y="1857375"/>
              <a:ext cx="1778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Photo forensics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28866" y="2210752"/>
              <a:ext cx="28023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392B"/>
                  </a:solidFill>
                  <a:latin typeface="Consolas"/>
                  <a:ea typeface="Consolas"/>
                  <a:cs typeface="Consolas"/>
                </a:rPr>
                <a:t>nmms_88213 ↔ nmms_71104 hamming 0/64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28485" y="2507456"/>
              <a:ext cx="338251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The identical completion photo, uploaded against</a:t>
              </a:r>
              <a:br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two works 61.4 km apart in different districts.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28485" y="3136106"/>
              <a:ext cx="305536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i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The highest value-per-line-of-code check in</a:t>
              </a:r>
              <a:br/>
              <a:r>
                <a:rPr lang="en-US" sz="1120" i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the whole system.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705600" y="3867150"/>
            <a:ext cx="4876800" cy="2114550"/>
            <a:chOff x="6705600" y="3867150"/>
            <a:chExt cx="4876800" cy="2114550"/>
          </a:xfrm>
        </p:grpSpPr>
        <p:sp>
          <p:nvSpPr>
            <p:cNvPr id="39" name="Rectangle 39"/>
            <p:cNvSpPr/>
            <p:nvPr/>
          </p:nvSpPr>
          <p:spPr>
            <a:xfrm>
              <a:off x="6705600" y="3867150"/>
              <a:ext cx="4876800" cy="2114550"/>
            </a:xfrm>
            <a:prstGeom prst="roundRect">
              <a:avLst>
                <a:gd name="adj" fmla="val 3604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705600" y="3867150"/>
              <a:ext cx="57150" cy="2114550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26580" y="4029075"/>
              <a:ext cx="20698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Payment forensics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28866" y="4382452"/>
              <a:ext cx="2576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392B"/>
                  </a:solidFill>
                  <a:latin typeface="Consolas"/>
                  <a:ea typeface="Consolas"/>
                  <a:cs typeface="Consolas"/>
                </a:rPr>
                <a:t>462 stage payments after completion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28485" y="4641056"/>
              <a:ext cx="387324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≈ ₹1.19 crore — matches the seeded CAG figure exactly.</a:t>
              </a:r>
              <a:br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A single date comparison that runs nowhere in India.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28866" y="5277802"/>
              <a:ext cx="2739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392B"/>
                  </a:solidFill>
                  <a:latin typeface="Consolas"/>
                  <a:ea typeface="Consolas"/>
                  <a:cs typeface="Consolas"/>
                </a:rPr>
                <a:t>check-dam split: ₹2.4L + ₹2.9L = ₹5.3L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28485" y="5536406"/>
              <a:ext cx="370255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Two works, one vendor, 11 days apart — crossing the</a:t>
              </a:r>
              <a:br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₹5 lakh tender threshold as one work.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4838" y="6191250"/>
            <a:ext cx="10982325" cy="326707"/>
            <a:chOff x="604838" y="6191250"/>
            <a:chExt cx="10982325" cy="326707"/>
          </a:xfrm>
        </p:grpSpPr>
        <p:sp>
          <p:nvSpPr>
            <p:cNvPr id="47" name="Line 47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BE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04838" y="6341745"/>
              <a:ext cx="22866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SAAKSHI — the witness for every rupee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081032" y="6341745"/>
              <a:ext cx="25061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GovTech &amp; Public Service Delivery · 09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6646" y="659606"/>
            <a:ext cx="8251012" cy="893350"/>
            <a:chOff x="596646" y="659606"/>
            <a:chExt cx="8251012" cy="893350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59606"/>
              <a:ext cx="3721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225" dirty="0">
                  <a:solidFill>
                    <a:srgbClr val="D98A2B"/>
                  </a:solidFill>
                  <a:latin typeface="Segoe UI"/>
                  <a:ea typeface="Segoe UI"/>
                  <a:cs typeface="Segoe UI"/>
                </a:rPr>
                <a:t>GHADI · THE ACCOUNTABILITY CLOCK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924878"/>
              <a:ext cx="63387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Finding fraud is not the hard part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3504" y="1318260"/>
              <a:ext cx="82441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>AuditOnline holds 62,745 observations and has filed 0 Action Taken Reports. GHADI closes that last mile.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" y="1695450"/>
            <a:ext cx="5905500" cy="4267200"/>
            <a:chOff x="609600" y="1695450"/>
            <a:chExt cx="5905500" cy="4267200"/>
          </a:xfrm>
        </p:grpSpPr>
        <p:sp>
          <p:nvSpPr>
            <p:cNvPr id="6" name="Rectangle 6"/>
            <p:cNvSpPr/>
            <p:nvPr/>
          </p:nvSpPr>
          <p:spPr>
            <a:xfrm>
              <a:off x="609600" y="1695450"/>
              <a:ext cx="5905500" cy="4267200"/>
            </a:xfrm>
            <a:prstGeom prst="roundRect">
              <a:avLst>
                <a:gd name="adj" fmla="val 1786"/>
              </a:avLst>
            </a:prstGeom>
            <a:solidFill>
              <a:srgbClr val="101826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95450"/>
              <a:ext cx="5905500" cy="571500"/>
            </a:xfrm>
            <a:prstGeom prst="roundRect">
              <a:avLst>
                <a:gd name="adj" fmla="val 13333"/>
              </a:avLst>
            </a:prstGeom>
            <a:solidFill>
              <a:srgbClr val="1D274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2152650"/>
              <a:ext cx="5905500" cy="114300"/>
            </a:xfrm>
            <a:prstGeom prst="rect">
              <a:avLst/>
            </a:prstGeom>
            <a:solidFill>
              <a:srgbClr val="1D274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1723" y="1881664"/>
              <a:ext cx="22783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4F0E6"/>
                  </a:solidFill>
                  <a:latin typeface="Consolas"/>
                  <a:ea typeface="Consolas"/>
                  <a:cs typeface="Consolas"/>
                </a:rPr>
                <a:t>CASE KA-KLB-2026-00412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3438" y="2112645"/>
              <a:ext cx="36632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94AC"/>
                  </a:solidFill>
                  <a:latin typeface="Consolas"/>
                  <a:ea typeface="Consolas"/>
                  <a:cs typeface="Consolas"/>
                </a:rPr>
                <a:t>Kamalapur GP · LGD 226534 · AWAITING DEPARTMENT RESPONSE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866" y="2439352"/>
              <a:ext cx="50641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WORK: ₹4.2 lakh farm pond, survey 112/3 · claimed complete 14 Jun 2026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3247" y="2714149"/>
              <a:ext cx="43388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D98A2B"/>
                  </a:solidFill>
                  <a:latin typeface="Segoe UI"/>
                  <a:ea typeface="Segoe UI"/>
                  <a:cs typeface="Segoe UI"/>
                </a:rPr>
                <a:t>FOUR INDEPENDENT SIGNALS — never fused into one score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838200" y="2952750"/>
              <a:ext cx="4761785" cy="253937"/>
              <a:chOff x="838200" y="2952750"/>
              <a:chExt cx="4761785" cy="253937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838200" y="2952750"/>
                <a:ext cx="685800" cy="228600"/>
              </a:xfrm>
              <a:prstGeom prst="roundRect">
                <a:avLst>
                  <a:gd name="adj" fmla="val 16667"/>
                </a:avLst>
              </a:prstGeom>
              <a:solidFill>
                <a:srgbClr val="2E8B6B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947547" y="3009424"/>
                <a:ext cx="28172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HIGH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632966" y="3001328"/>
                <a:ext cx="39670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F4F0E6"/>
                    </a:solidFill>
                    <a:latin typeface="Segoe UI"/>
                    <a:ea typeface="Segoe UI"/>
                    <a:cs typeface="Segoe UI"/>
                  </a:rPr>
                  <a:t>Photo — completion photo hamming 0 to a work 61 km away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838200" y="3276600"/>
              <a:ext cx="4881829" cy="253937"/>
              <a:chOff x="838200" y="3276600"/>
              <a:chExt cx="4881829" cy="253937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838200" y="3276600"/>
                <a:ext cx="685800" cy="228600"/>
              </a:xfrm>
              <a:prstGeom prst="roundRect">
                <a:avLst>
                  <a:gd name="adj" fmla="val 16667"/>
                </a:avLst>
              </a:prstGeom>
              <a:solidFill>
                <a:srgbClr val="D98A2B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947547" y="3333274"/>
                <a:ext cx="26778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MED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632966" y="3325178"/>
                <a:ext cx="408706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F4F0E6"/>
                    </a:solidFill>
                    <a:latin typeface="Segoe UI"/>
                    <a:ea typeface="Segoe UI"/>
                    <a:cs typeface="Segoe UI"/>
                  </a:rPr>
                  <a:t>Network — vendor won 11 of 16 block tenders as sole bidder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38200" y="3600450"/>
              <a:ext cx="4598441" cy="253937"/>
              <a:chOff x="838200" y="3600450"/>
              <a:chExt cx="4598441" cy="253937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838200" y="3600450"/>
                <a:ext cx="685800" cy="228600"/>
              </a:xfrm>
              <a:prstGeom prst="roundRect">
                <a:avLst>
                  <a:gd name="adj" fmla="val 16667"/>
                </a:avLst>
              </a:prstGeom>
              <a:solidFill>
                <a:srgbClr val="2C6488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47547" y="3657124"/>
                <a:ext cx="2956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LOW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632966" y="3649028"/>
                <a:ext cx="380367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F4F0E6"/>
                    </a:solidFill>
                    <a:latin typeface="Segoe UI"/>
                    <a:ea typeface="Segoe UI"/>
                    <a:cs typeface="Segoe UI"/>
                  </a:rPr>
                  <a:t>Satellite — no NDWI change (10 m limit; not dispositive)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838200" y="3924300"/>
              <a:ext cx="4775549" cy="253937"/>
              <a:chOff x="838200" y="3924300"/>
              <a:chExt cx="4775549" cy="253937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838200" y="3924300"/>
                <a:ext cx="685800" cy="228600"/>
              </a:xfrm>
              <a:prstGeom prst="roundRect">
                <a:avLst>
                  <a:gd name="adj" fmla="val 16667"/>
                </a:avLst>
              </a:prstGeom>
              <a:solidFill>
                <a:srgbClr val="2E8B6B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47547" y="3980974"/>
                <a:ext cx="28172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HIGH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632966" y="3972878"/>
                <a:ext cx="39807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F4F0E6"/>
                    </a:solidFill>
                    <a:latin typeface="Segoe UI"/>
                    <a:ea typeface="Segoe UI"/>
                    <a:cs typeface="Segoe UI"/>
                  </a:rPr>
                  <a:t>Citizen — 3 anonymous reports: "no pond at this location"</a:t>
                </a:r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833247" y="4333399"/>
              <a:ext cx="17607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8A94AC"/>
                  </a:solidFill>
                  <a:latin typeface="Segoe UI"/>
                  <a:ea typeface="Segoe UI"/>
                  <a:cs typeface="Segoe UI"/>
                </a:rPr>
                <a:t>WHAT WE DO NOT KNOW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3247" y="4561999"/>
              <a:ext cx="3693922" cy="371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n-US" sz="98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Whether the pond is below satellite resolution · whether the</a:t>
              </a:r>
              <a:br/>
              <a:r>
                <a:rPr lang="en-US" sz="98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duplicate is fraud or an upload error.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2485" y="4983956"/>
              <a:ext cx="33299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i="1" dirty="0">
                  <a:solidFill>
                    <a:srgbClr val="E0912F"/>
                  </a:solidFill>
                  <a:latin typeface="Georgia"/>
                  <a:ea typeface="Georgia"/>
                  <a:cs typeface="Georgia"/>
                </a:rPr>
                <a:t>This case file is a question, not a verdict.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838200" y="5257800"/>
              <a:ext cx="5448300" cy="9525"/>
            </a:xfrm>
            <a:custGeom>
              <a:avLst/>
              <a:gdLst/>
              <a:ahLst/>
              <a:cxnLst/>
              <a:rect l="l" t="t" r="r" b="b"/>
              <a:pathLst>
                <a:path w="5448300" h="9525">
                  <a:moveTo>
                    <a:pt x="0" y="0"/>
                  </a:moveTo>
                  <a:lnTo>
                    <a:pt x="5448300" y="0"/>
                  </a:lnTo>
                </a:path>
              </a:pathLst>
            </a:custGeom>
            <a:noFill/>
            <a:ln w="9525">
              <a:solidFill>
                <a:srgbClr val="2A345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33247" y="5438299"/>
              <a:ext cx="2816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9CEDA"/>
                  </a:solidFill>
                  <a:latin typeface="Consolas"/>
                  <a:ea typeface="Consolas"/>
                  <a:cs typeface="Consolas"/>
                </a:rPr>
                <a:t>RTI §6(1) filed 14 Jul · deadline 13 Aug 2026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2866" y="5658802"/>
              <a:ext cx="27572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D6A0"/>
                  </a:solidFill>
                  <a:latin typeface="Consolas"/>
                  <a:ea typeface="Consolas"/>
                  <a:cs typeface="Consolas"/>
                </a:rPr>
                <a:t>DAYS REMAINING: 14 — the clock is public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743700" y="1695450"/>
            <a:ext cx="4838700" cy="1276350"/>
            <a:chOff x="6743700" y="1695450"/>
            <a:chExt cx="4838700" cy="1276350"/>
          </a:xfrm>
        </p:grpSpPr>
        <p:sp>
          <p:nvSpPr>
            <p:cNvPr id="36" name="Rectangle 36"/>
            <p:cNvSpPr/>
            <p:nvPr/>
          </p:nvSpPr>
          <p:spPr>
            <a:xfrm>
              <a:off x="6743700" y="1695450"/>
              <a:ext cx="4838700" cy="1276350"/>
            </a:xfrm>
            <a:prstGeom prst="roundRect">
              <a:avLst>
                <a:gd name="adj" fmla="val 5970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64680" y="1857375"/>
              <a:ext cx="168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The void it fills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66585" y="2221706"/>
              <a:ext cx="3233166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The government built AuditOnline, onboarded a</a:t>
              </a:r>
              <a:br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quarter-million panchayats, recorded 62,745</a:t>
              </a:r>
              <a:br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observations — and closed zero of them.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743700" y="3086100"/>
            <a:ext cx="4838700" cy="1638300"/>
            <a:chOff x="6743700" y="3086100"/>
            <a:chExt cx="4838700" cy="1638300"/>
          </a:xfrm>
        </p:grpSpPr>
        <p:sp>
          <p:nvSpPr>
            <p:cNvPr id="40" name="Rectangle 40"/>
            <p:cNvSpPr/>
            <p:nvPr/>
          </p:nvSpPr>
          <p:spPr>
            <a:xfrm>
              <a:off x="6743700" y="3086100"/>
              <a:ext cx="4838700" cy="1638300"/>
            </a:xfrm>
            <a:prstGeom prst="roundRect">
              <a:avLst>
                <a:gd name="adj" fmla="val 4651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64680" y="3248025"/>
              <a:ext cx="28881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It drafts the instruments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66585" y="3612356"/>
              <a:ext cx="37294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4A5162"/>
                </a:buClr>
                <a:buSzTx/>
                <a:buFontTx/>
                <a:buChar char="•"/>
              </a:pPr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Auto-drafts a specific RTI §6(1) — a specific one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99935" y="3821906"/>
              <a:ext cx="24313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>cannot be refused for vagueness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66585" y="4069556"/>
              <a:ext cx="33955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4A5162"/>
                </a:buClr>
                <a:buSzTx/>
                <a:buFontTx/>
                <a:buChar char="•"/>
              </a:pPr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Files a CPGRAMS grievance (21-day deadline)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66585" y="4317206"/>
              <a:ext cx="3887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4A5162"/>
                </a:buClr>
                <a:buSzTx/>
                <a:buFontTx/>
                <a:buChar char="•"/>
              </a:pPr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Queues a Gram Sabha item · runs a recovery ledger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743700" y="4838700"/>
            <a:ext cx="4838700" cy="1123950"/>
            <a:chOff x="6743700" y="4838700"/>
            <a:chExt cx="4838700" cy="1123950"/>
          </a:xfrm>
        </p:grpSpPr>
        <p:sp>
          <p:nvSpPr>
            <p:cNvPr id="47" name="Rectangle 47"/>
            <p:cNvSpPr/>
            <p:nvPr/>
          </p:nvSpPr>
          <p:spPr>
            <a:xfrm>
              <a:off x="6743700" y="4838700"/>
              <a:ext cx="4838700" cy="1123950"/>
            </a:xfrm>
            <a:prstGeom prst="roundRect">
              <a:avLst>
                <a:gd name="adj" fmla="val 6780"/>
              </a:avLst>
            </a:prstGeom>
            <a:solidFill>
              <a:srgbClr val="202A3E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65061" y="5046821"/>
              <a:ext cx="28710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4F0E6"/>
                  </a:solidFill>
                  <a:latin typeface="Georgia"/>
                  <a:ea typeface="Georgia"/>
                  <a:cs typeface="Georgia"/>
                </a:rPr>
                <a:t>It never names an individual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66585" y="5403056"/>
              <a:ext cx="408660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Designation only. The target is the process, not a person.</a:t>
              </a:r>
              <a:br/>
              <a:r>
                <a:rPr lang="en-US" sz="112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It surfaces a question and counts days — in public.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4838" y="6191250"/>
            <a:ext cx="10982325" cy="326707"/>
            <a:chOff x="604838" y="6191250"/>
            <a:chExt cx="10982325" cy="326707"/>
          </a:xfrm>
        </p:grpSpPr>
        <p:sp>
          <p:nvSpPr>
            <p:cNvPr id="51" name="Line 51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BE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4838" y="6341745"/>
              <a:ext cx="22866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SAAKSHI — the witness for every rupee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081032" y="6341745"/>
              <a:ext cx="25061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GovTech &amp; Public Service Delivery · 10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6646" y="659606"/>
            <a:ext cx="8007091" cy="893350"/>
            <a:chOff x="596646" y="659606"/>
            <a:chExt cx="8007091" cy="893350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59606"/>
              <a:ext cx="26140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225" dirty="0">
                  <a:solidFill>
                    <a:srgbClr val="D98A2B"/>
                  </a:solidFill>
                  <a:latin typeface="Segoe UI"/>
                  <a:ea typeface="Segoe UI"/>
                  <a:cs typeface="Segoe UI"/>
                </a:rPr>
                <a:t>VAANI · THE VOICE LAYER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924878"/>
              <a:ext cx="51262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A phone number, not an app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3504" y="1318260"/>
              <a:ext cx="80002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>This is what makes SAAKSHI inclusive innovation for Bharat, rather than a dashboard for journalists.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1695450"/>
            <a:ext cx="5867400" cy="4267200"/>
            <a:chOff x="609600" y="1695450"/>
            <a:chExt cx="5867400" cy="4267200"/>
          </a:xfrm>
        </p:grpSpPr>
        <p:sp>
          <p:nvSpPr>
            <p:cNvPr id="6" name="Rectangle 6"/>
            <p:cNvSpPr/>
            <p:nvPr/>
          </p:nvSpPr>
          <p:spPr>
            <a:xfrm>
              <a:off x="609600" y="1695450"/>
              <a:ext cx="5867400" cy="4267200"/>
            </a:xfrm>
            <a:prstGeom prst="roundRect">
              <a:avLst>
                <a:gd name="adj" fmla="val 1786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95450"/>
              <a:ext cx="5867400" cy="381000"/>
            </a:xfrm>
            <a:prstGeom prst="roundRect">
              <a:avLst>
                <a:gd name="adj" fmla="val 20000"/>
              </a:avLst>
            </a:prstGeom>
            <a:solidFill>
              <a:srgbClr val="2E8B6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1943100"/>
              <a:ext cx="5867400" cy="133350"/>
            </a:xfrm>
            <a:prstGeom prst="rect">
              <a:avLst/>
            </a:prstGeom>
            <a:solidFill>
              <a:srgbClr val="2E8B6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2485" y="1831181"/>
              <a:ext cx="37633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Call 1800-XXX-XXXX · Kannada · DTMF-confirmed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838200" y="2228850"/>
              <a:ext cx="4476750" cy="501586"/>
              <a:chOff x="838200" y="2228850"/>
              <a:chExt cx="4476750" cy="501586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838200" y="2228850"/>
                <a:ext cx="447675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EDE6D6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985266" y="2344102"/>
                <a:ext cx="3044381" cy="3863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425"/>
                  </a:lnSpc>
                </a:pPr>
                <a:r>
                  <a:rPr lang="en-US" sz="1050" dirty="0">
                    <a:solidFill>
                      <a:srgbClr val="202A3E"/>
                    </a:solidFill>
                    <a:latin typeface="Segoe UI"/>
                    <a:ea typeface="Segoe UI"/>
                    <a:cs typeface="Segoe UI"/>
                  </a:rPr>
                  <a:t>"Namaskara. To hear what your panchayat was</a:t>
                </a:r>
                <a:br/>
                <a:r>
                  <a:rPr lang="en-US" sz="1050" dirty="0">
                    <a:solidFill>
                      <a:srgbClr val="202A3E"/>
                    </a:solidFill>
                    <a:latin typeface="Segoe UI"/>
                    <a:ea typeface="Segoe UI"/>
                    <a:cs typeface="Segoe UI"/>
                  </a:rPr>
                  <a:t>paid, press 1."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4191000" y="2819400"/>
              <a:ext cx="1828800" cy="285750"/>
              <a:chOff x="4191000" y="2819400"/>
              <a:chExt cx="1828800" cy="2857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191000" y="2819400"/>
                <a:ext cx="1828800" cy="285750"/>
              </a:xfrm>
              <a:prstGeom prst="roundRect">
                <a:avLst>
                  <a:gd name="adj" fmla="val 26667"/>
                </a:avLst>
              </a:prstGeom>
              <a:solidFill>
                <a:srgbClr val="2C6488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338066" y="2896552"/>
                <a:ext cx="125958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Lakshmi presses 1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838200" y="3200400"/>
              <a:ext cx="4762500" cy="685800"/>
              <a:chOff x="838200" y="3200400"/>
              <a:chExt cx="4762500" cy="6858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838200" y="3200400"/>
                <a:ext cx="476250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EDE6D6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985266" y="3315652"/>
                <a:ext cx="3224403" cy="5673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425"/>
                  </a:lnSpc>
                </a:pPr>
                <a:r>
                  <a:rPr lang="en-US" sz="1050" dirty="0">
                    <a:solidFill>
                      <a:srgbClr val="202A3E"/>
                    </a:solidFill>
                    <a:latin typeface="Segoe UI"/>
                    <a:ea typeface="Segoe UI"/>
                    <a:cs typeface="Segoe UI"/>
                  </a:rPr>
                  <a:t>"₹47 lakh across 4 schemes. Saakshi found</a:t>
                </a:r>
                <a:br/>
                <a:r>
                  <a:rPr lang="en-US" sz="1050" dirty="0">
                    <a:solidFill>
                      <a:srgbClr val="202A3E"/>
                    </a:solidFill>
                    <a:latin typeface="Segoe UI"/>
                    <a:ea typeface="Segoe UI"/>
                    <a:cs typeface="Segoe UI"/>
                  </a:rPr>
                  <a:t>questions about a ₹4.2 lakh farm pond: the photo</a:t>
                </a:r>
                <a:br/>
                <a:r>
                  <a:rPr lang="en-US" sz="1050" dirty="0">
                    <a:solidFill>
                      <a:srgbClr val="202A3E"/>
                    </a:solidFill>
                    <a:latin typeface="Segoe UI"/>
                    <a:ea typeface="Segoe UI"/>
                    <a:cs typeface="Segoe UI"/>
                  </a:rPr>
                  <a:t>is a duplicate; satellite shows no change; the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838200" y="3943350"/>
              <a:ext cx="4762500" cy="501586"/>
              <a:chOff x="838200" y="3943350"/>
              <a:chExt cx="4762500" cy="501586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838200" y="3943350"/>
                <a:ext cx="47625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EDE6D6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985266" y="4058602"/>
                <a:ext cx="3037713" cy="3863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425"/>
                  </a:lnSpc>
                </a:pPr>
                <a:r>
                  <a:rPr lang="en-US" sz="1050" dirty="0">
                    <a:solidFill>
                      <a:srgbClr val="202A3E"/>
                    </a:solidFill>
                    <a:latin typeface="Segoe UI"/>
                    <a:ea typeface="Segoe UI"/>
                    <a:cs typeface="Segoe UI"/>
                  </a:rPr>
                  <a:t>contractor won 11 of 16 unopposed. Is there a</a:t>
                </a:r>
                <a:br/>
                <a:r>
                  <a:rPr lang="en-US" sz="1050" dirty="0">
                    <a:solidFill>
                      <a:srgbClr val="202A3E"/>
                    </a:solidFill>
                    <a:latin typeface="Segoe UI"/>
                    <a:ea typeface="Segoe UI"/>
                    <a:cs typeface="Segoe UI"/>
                  </a:rPr>
                  <a:t>pond at 112/3? Press 1 yes, 2 no, 3 unsure."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3600450" y="4533900"/>
              <a:ext cx="2419350" cy="285750"/>
              <a:chOff x="3600450" y="4533900"/>
              <a:chExt cx="2419350" cy="285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3600450" y="4533900"/>
                <a:ext cx="2419350" cy="285750"/>
              </a:xfrm>
              <a:prstGeom prst="roundRect">
                <a:avLst>
                  <a:gd name="adj" fmla="val 26667"/>
                </a:avLst>
              </a:prstGeom>
              <a:solidFill>
                <a:srgbClr val="C0392B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3747516" y="4611052"/>
                <a:ext cx="20159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Lakshmi presses 2 — the label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838200" y="4914900"/>
              <a:ext cx="5181600" cy="685800"/>
              <a:chOff x="838200" y="4914900"/>
              <a:chExt cx="5181600" cy="6858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838200" y="4914900"/>
                <a:ext cx="518160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101826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85266" y="5030152"/>
                <a:ext cx="3411093" cy="5673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425"/>
                  </a:lnSpc>
                </a:pPr>
                <a:r>
                  <a:rPr lang="en-US" sz="1050" dirty="0">
                    <a:solidFill>
                      <a:srgbClr val="F4F0E6"/>
                    </a:solidFill>
                    <a:latin typeface="Segoe UI"/>
                    <a:ea typeface="Segoe UI"/>
                    <a:cs typeface="Segoe UI"/>
                  </a:rPr>
                  <a:t>"Thank you. Your answer is anonymous. Case</a:t>
                </a:r>
                <a:br/>
                <a:r>
                  <a:rPr lang="en-US" sz="1050" dirty="0">
                    <a:solidFill>
                      <a:srgbClr val="F4F0E6"/>
                    </a:solidFill>
                    <a:latin typeface="Segoe UI"/>
                    <a:ea typeface="Segoe UI"/>
                    <a:cs typeface="Segoe UI"/>
                  </a:rPr>
                  <a:t>KA-KLB-2026-00412 opened; an RTI is prepared;</a:t>
                </a:r>
                <a:br/>
                <a:r>
                  <a:rPr lang="en-US" sz="1050" dirty="0">
                    <a:solidFill>
                      <a:srgbClr val="F4F0E6"/>
                    </a:solidFill>
                    <a:latin typeface="Segoe UI"/>
                    <a:ea typeface="Segoe UI"/>
                    <a:cs typeface="Segoe UI"/>
                  </a:rPr>
                  <a:t>the government has 30 days. Saakshi will call back."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6705600" y="1695450"/>
            <a:ext cx="4876800" cy="2419350"/>
            <a:chOff x="6705600" y="1695450"/>
            <a:chExt cx="4876800" cy="2419350"/>
          </a:xfrm>
        </p:grpSpPr>
        <p:sp>
          <p:nvSpPr>
            <p:cNvPr id="29" name="Rectangle 29"/>
            <p:cNvSpPr/>
            <p:nvPr/>
          </p:nvSpPr>
          <p:spPr>
            <a:xfrm>
              <a:off x="6705600" y="1695450"/>
              <a:ext cx="4876800" cy="2419350"/>
            </a:xfrm>
            <a:prstGeom prst="roundRect">
              <a:avLst>
                <a:gd name="adj" fmla="val 3150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26580" y="1857375"/>
              <a:ext cx="33818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Designed for the hard numbers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28485" y="2240756"/>
              <a:ext cx="3140710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lnSpc>
                  <a:spcPts val="1575"/>
                </a:lnSpc>
                <a:buClr>
                  <a:srgbClr val="4A5162"/>
                </a:buClr>
                <a:buSzTx/>
                <a:buFontTx/>
                <a:buChar char="•"/>
              </a:pPr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ASR is bad in rural audio — Hindi WER 16%,</a:t>
              </a:r>
              <a:br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Odia 35%. So: no dictation. Slot-filling +</a:t>
              </a:r>
              <a:br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DTMF on every prompt + verbal confirmation.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28485" y="3021806"/>
              <a:ext cx="3339846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lnSpc>
                  <a:spcPts val="1575"/>
                </a:lnSpc>
                <a:buClr>
                  <a:srgbClr val="4A5162"/>
                </a:buClr>
                <a:buSzTx/>
                <a:buFontTx/>
                <a:buChar char="•"/>
              </a:pPr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LLMs get 54–69% on graph queries. So the LLM</a:t>
              </a:r>
              <a:br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never writes a query — an intent router picks</a:t>
              </a:r>
              <a:br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one of ~40 vetted, unit-tested queries.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28485" y="3802856"/>
              <a:ext cx="37171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4A5162"/>
                </a:buClr>
                <a:buSzTx/>
                <a:buFontTx/>
                <a:buChar char="•"/>
              </a:pPr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Reuses Bhashini — government DPI, not a rebuild.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705600" y="4229100"/>
            <a:ext cx="4876800" cy="1752600"/>
            <a:chOff x="6705600" y="4229100"/>
            <a:chExt cx="4876800" cy="1752600"/>
          </a:xfrm>
        </p:grpSpPr>
        <p:sp>
          <p:nvSpPr>
            <p:cNvPr id="35" name="Rectangle 35"/>
            <p:cNvSpPr/>
            <p:nvPr/>
          </p:nvSpPr>
          <p:spPr>
            <a:xfrm>
              <a:off x="6705600" y="4229100"/>
              <a:ext cx="4876800" cy="1752600"/>
            </a:xfrm>
            <a:prstGeom prst="roundRect">
              <a:avLst>
                <a:gd name="adj" fmla="val 4348"/>
              </a:avLst>
            </a:prstGeom>
            <a:solidFill>
              <a:srgbClr val="202A3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16674" y="4256722"/>
              <a:ext cx="330698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F4F0E6"/>
                  </a:solidFill>
                  <a:latin typeface="Georgia"/>
                  <a:ea typeface="Georgia"/>
                  <a:cs typeface="Georgia"/>
                </a:rPr>
                <a:t>~100 seconds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27342" y="4921568"/>
              <a:ext cx="4281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D98A2B"/>
                  </a:solidFill>
                  <a:latin typeface="Segoe UI"/>
                  <a:ea typeface="Segoe UI"/>
                  <a:cs typeface="Segoe UI"/>
                </a:rPr>
                <a:t>No smartphone. No literacy. No English. No app.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28485" y="5345906"/>
              <a:ext cx="386613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Zero-cost, zero-device, zero-risk participation on a</a:t>
              </a:r>
              <a:br/>
              <a:r>
                <a:rPr lang="en-US" sz="112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borrowed feature phone — in the caller's own language.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4838" y="6191250"/>
            <a:ext cx="10982325" cy="326707"/>
            <a:chOff x="604838" y="6191250"/>
            <a:chExt cx="10982325" cy="326707"/>
          </a:xfrm>
        </p:grpSpPr>
        <p:sp>
          <p:nvSpPr>
            <p:cNvPr id="40" name="Line 40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BE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4838" y="6341745"/>
              <a:ext cx="22866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SAAKSHI — the witness for every rupee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81032" y="6341745"/>
              <a:ext cx="25061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GovTech &amp; Public Service Delivery · 11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6646" y="659606"/>
            <a:ext cx="9119665" cy="893350"/>
            <a:chOff x="596646" y="659606"/>
            <a:chExt cx="9119665" cy="893350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59606"/>
              <a:ext cx="3259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225" dirty="0">
                  <a:solidFill>
                    <a:srgbClr val="D98A2B"/>
                  </a:solidFill>
                  <a:latin typeface="Segoe UI"/>
                  <a:ea typeface="Segoe UI"/>
                  <a:cs typeface="Segoe UI"/>
                </a:rPr>
                <a:t>INNOVATION &amp; DIFFERENTIATION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924878"/>
              <a:ext cx="91196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Six gaps in the literature. Five firsts for India.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3504" y="1318260"/>
              <a:ext cx="87401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>Two independent research streams — one on Indian data, one on 2023–26 papers — converged on the same holes.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3885" y="1764506"/>
            <a:ext cx="4352911" cy="220028"/>
            <a:chOff x="603885" y="1764506"/>
            <a:chExt cx="4352911" cy="220028"/>
          </a:xfrm>
        </p:grpSpPr>
        <p:sp>
          <p:nvSpPr>
            <p:cNvPr id="6" name="TextBox 6"/>
            <p:cNvSpPr txBox="1"/>
            <p:nvPr/>
          </p:nvSpPr>
          <p:spPr>
            <a:xfrm>
              <a:off x="603885" y="1764506"/>
              <a:ext cx="4352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50" dirty="0">
                  <a:solidFill>
                    <a:srgbClr val="2C6488"/>
                  </a:solidFill>
                  <a:latin typeface="Segoe UI"/>
                  <a:ea typeface="Segoe UI"/>
                  <a:cs typeface="Segoe UI"/>
                </a:rPr>
                <a:t>NOVELTY GAPS — nothing published does these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9600" y="2019300"/>
            <a:ext cx="6858000" cy="552450"/>
            <a:chOff x="609600" y="2019300"/>
            <a:chExt cx="6858000" cy="552450"/>
          </a:xfrm>
        </p:grpSpPr>
        <p:sp>
          <p:nvSpPr>
            <p:cNvPr id="8" name="Rectangle 8"/>
            <p:cNvSpPr/>
            <p:nvPr/>
          </p:nvSpPr>
          <p:spPr>
            <a:xfrm>
              <a:off x="609600" y="2019300"/>
              <a:ext cx="6858000" cy="552450"/>
            </a:xfrm>
            <a:prstGeom prst="roundRect">
              <a:avLst>
                <a:gd name="adj" fmla="val 10345"/>
              </a:avLst>
            </a:prstGeom>
            <a:solidFill>
              <a:srgbClr val="F6EAD2"/>
            </a:solidFill>
            <a:ln w="9525">
              <a:solidFill>
                <a:srgbClr val="D98A2B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2019300"/>
              <a:ext cx="57150" cy="552450"/>
            </a:xfrm>
            <a:prstGeom prst="roundRect">
              <a:avLst>
                <a:gd name="adj" fmla="val 50000"/>
              </a:avLst>
            </a:prstGeom>
            <a:solidFill>
              <a:srgbClr val="D98A2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2673" y="2129314"/>
              <a:ext cx="2683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B9761F"/>
                  </a:solidFill>
                  <a:latin typeface="Georgia"/>
                  <a:ea typeface="Georgia"/>
                  <a:cs typeface="Georgia"/>
                </a:rPr>
                <a:t>N1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94435" y="2145506"/>
              <a:ext cx="41799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Collusion graphs + satellite asset verification, jointly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95197" y="2361724"/>
              <a:ext cx="50561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>predict risky contracts, then check whether the thing they paid for appeared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58407" y="2177891"/>
              <a:ext cx="120440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b="1" spc="75" dirty="0">
                  <a:solidFill>
                    <a:srgbClr val="B9761F"/>
                  </a:solidFill>
                  <a:latin typeface="Segoe UI"/>
                  <a:ea typeface="Segoe UI"/>
                  <a:cs typeface="Segoe UI"/>
                </a:rPr>
                <a:t>KEY CONTRIBUTION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2647950"/>
            <a:ext cx="6858000" cy="552450"/>
            <a:chOff x="609600" y="2647950"/>
            <a:chExt cx="6858000" cy="552450"/>
          </a:xfrm>
        </p:grpSpPr>
        <p:sp>
          <p:nvSpPr>
            <p:cNvPr id="15" name="Rectangle 15"/>
            <p:cNvSpPr/>
            <p:nvPr/>
          </p:nvSpPr>
          <p:spPr>
            <a:xfrm>
              <a:off x="609600" y="2647950"/>
              <a:ext cx="6858000" cy="552450"/>
            </a:xfrm>
            <a:prstGeom prst="roundRect">
              <a:avLst>
                <a:gd name="adj" fmla="val 10345"/>
              </a:avLst>
            </a:prstGeom>
            <a:solidFill>
              <a:srgbClr val="F6EAD2"/>
            </a:solidFill>
            <a:ln w="9525">
              <a:solidFill>
                <a:srgbClr val="D98A2B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9600" y="2647950"/>
              <a:ext cx="57150" cy="552450"/>
            </a:xfrm>
            <a:prstGeom prst="roundRect">
              <a:avLst>
                <a:gd name="adj" fmla="val 50000"/>
              </a:avLst>
            </a:prstGeom>
            <a:solidFill>
              <a:srgbClr val="D98A2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2673" y="2757964"/>
              <a:ext cx="2683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B9761F"/>
                  </a:solidFill>
                  <a:latin typeface="Georgia"/>
                  <a:ea typeface="Georgia"/>
                  <a:cs typeface="Georgia"/>
                </a:rPr>
                <a:t>N2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94435" y="2774156"/>
              <a:ext cx="5456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Citizen reports as Positive-Unlabeled training labels for a fraud graph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95197" y="2990374"/>
              <a:ext cx="48516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>the exact fix for the "no confirmed positives" bottleneck in the literature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58407" y="2806541"/>
              <a:ext cx="120440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b="1" spc="75" dirty="0">
                  <a:solidFill>
                    <a:srgbClr val="B9761F"/>
                  </a:solidFill>
                  <a:latin typeface="Segoe UI"/>
                  <a:ea typeface="Segoe UI"/>
                  <a:cs typeface="Segoe UI"/>
                </a:rPr>
                <a:t>KEY CONTRIBUTION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9600" y="3276600"/>
            <a:ext cx="6858000" cy="552450"/>
            <a:chOff x="609600" y="3276600"/>
            <a:chExt cx="6858000" cy="552450"/>
          </a:xfrm>
        </p:grpSpPr>
        <p:sp>
          <p:nvSpPr>
            <p:cNvPr id="22" name="Rectangle 22"/>
            <p:cNvSpPr/>
            <p:nvPr/>
          </p:nvSpPr>
          <p:spPr>
            <a:xfrm>
              <a:off x="609600" y="3276600"/>
              <a:ext cx="6858000" cy="552450"/>
            </a:xfrm>
            <a:prstGeom prst="roundRect">
              <a:avLst>
                <a:gd name="adj" fmla="val 10345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2673" y="3386614"/>
              <a:ext cx="2683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C0392B"/>
                  </a:solidFill>
                  <a:latin typeface="Georgia"/>
                  <a:ea typeface="Georgia"/>
                  <a:cs typeface="Georgia"/>
                </a:rPr>
                <a:t>N3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94435" y="3402806"/>
              <a:ext cx="4622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Indic voice-first query over a public-spending knowledge graph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95197" y="3619024"/>
              <a:ext cx="52342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>provenance-carrying answers, in the caller's language, over a structured graph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3905250"/>
            <a:ext cx="6858000" cy="552450"/>
            <a:chOff x="609600" y="3905250"/>
            <a:chExt cx="6858000" cy="552450"/>
          </a:xfrm>
        </p:grpSpPr>
        <p:sp>
          <p:nvSpPr>
            <p:cNvPr id="27" name="Rectangle 27"/>
            <p:cNvSpPr/>
            <p:nvPr/>
          </p:nvSpPr>
          <p:spPr>
            <a:xfrm>
              <a:off x="609600" y="3905250"/>
              <a:ext cx="6858000" cy="552450"/>
            </a:xfrm>
            <a:prstGeom prst="roundRect">
              <a:avLst>
                <a:gd name="adj" fmla="val 10345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12673" y="4015264"/>
              <a:ext cx="2683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C0392B"/>
                  </a:solidFill>
                  <a:latin typeface="Georgia"/>
                  <a:ea typeface="Georgia"/>
                  <a:cs typeface="Georgia"/>
                </a:rPr>
                <a:t>N4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94435" y="4031456"/>
              <a:ext cx="38684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Indic-name entity resolution for ghost beneficiaries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95197" y="4247674"/>
              <a:ext cx="47597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>no Indian-name ER benchmark exists; the pieces have never been combined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" y="4533900"/>
            <a:ext cx="6858000" cy="552450"/>
            <a:chOff x="609600" y="4533900"/>
            <a:chExt cx="6858000" cy="552450"/>
          </a:xfrm>
        </p:grpSpPr>
        <p:sp>
          <p:nvSpPr>
            <p:cNvPr id="32" name="Rectangle 32"/>
            <p:cNvSpPr/>
            <p:nvPr/>
          </p:nvSpPr>
          <p:spPr>
            <a:xfrm>
              <a:off x="609600" y="4533900"/>
              <a:ext cx="6858000" cy="552450"/>
            </a:xfrm>
            <a:prstGeom prst="roundRect">
              <a:avLst>
                <a:gd name="adj" fmla="val 10345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2673" y="4643914"/>
              <a:ext cx="2683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C0392B"/>
                  </a:solidFill>
                  <a:latin typeface="Georgia"/>
                  <a:ea typeface="Georgia"/>
                  <a:cs typeface="Georgia"/>
                </a:rPr>
                <a:t>N7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94435" y="4660106"/>
              <a:ext cx="23909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Writer retrieval on muster rolls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95197" y="4876324"/>
              <a:ext cx="49310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>"one hand forged forty rows" is invisible to OCR, visible to writer retrieval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" y="5162550"/>
            <a:ext cx="6858000" cy="552450"/>
            <a:chOff x="609600" y="5162550"/>
            <a:chExt cx="6858000" cy="552450"/>
          </a:xfrm>
        </p:grpSpPr>
        <p:sp>
          <p:nvSpPr>
            <p:cNvPr id="37" name="Rectangle 37"/>
            <p:cNvSpPr/>
            <p:nvPr/>
          </p:nvSpPr>
          <p:spPr>
            <a:xfrm>
              <a:off x="609600" y="5162550"/>
              <a:ext cx="6858000" cy="552450"/>
            </a:xfrm>
            <a:prstGeom prst="roundRect">
              <a:avLst>
                <a:gd name="adj" fmla="val 10345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12673" y="5272564"/>
              <a:ext cx="3959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C0392B"/>
                  </a:solidFill>
                  <a:latin typeface="Georgia"/>
                  <a:ea typeface="Georgia"/>
                  <a:cs typeface="Georgia"/>
                </a:rPr>
                <a:t>N10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94435" y="5288756"/>
              <a:ext cx="49394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Tender risk + payment anomaly + document evidence in one case file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95197" y="5504974"/>
              <a:ext cx="45877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>every component is 2025–26 state of the art; the fusion is unpublished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96200" y="1695450"/>
            <a:ext cx="3886200" cy="4038600"/>
            <a:chOff x="7696200" y="1695450"/>
            <a:chExt cx="3886200" cy="4038600"/>
          </a:xfrm>
        </p:grpSpPr>
        <p:sp>
          <p:nvSpPr>
            <p:cNvPr id="42" name="Rectangle 42"/>
            <p:cNvSpPr/>
            <p:nvPr/>
          </p:nvSpPr>
          <p:spPr>
            <a:xfrm>
              <a:off x="7696200" y="1695450"/>
              <a:ext cx="3886200" cy="4038600"/>
            </a:xfrm>
            <a:prstGeom prst="roundRect">
              <a:avLst>
                <a:gd name="adj" fmla="val 1961"/>
              </a:avLst>
            </a:prstGeom>
            <a:solidFill>
              <a:srgbClr val="202A3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919085" y="1897856"/>
              <a:ext cx="21108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50" dirty="0">
                  <a:solidFill>
                    <a:srgbClr val="D98A2B"/>
                  </a:solidFill>
                  <a:latin typeface="Segoe UI"/>
                  <a:ea typeface="Segoe UI"/>
                  <a:cs typeface="Segoe UI"/>
                </a:rPr>
                <a:t>FIVE FIRSTS FOR INDIA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18704" y="2308860"/>
              <a:ext cx="2488692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200" dirty="0">
                  <a:solidFill>
                    <a:srgbClr val="F4F0E6"/>
                  </a:solidFill>
                  <a:latin typeface="Segoe UI"/>
                  <a:ea typeface="Segoe UI"/>
                  <a:cs typeface="Segoe UI"/>
                </a:rPr>
                <a:t>1 · India's first published single-</a:t>
              </a:r>
              <a:br/>
              <a:r>
                <a:rPr lang="en-US" sz="1200" dirty="0">
                  <a:solidFill>
                    <a:srgbClr val="F4F0E6"/>
                  </a:solidFill>
                  <a:latin typeface="Segoe UI"/>
                  <a:ea typeface="Segoe UI"/>
                  <a:cs typeface="Segoe UI"/>
                </a:rPr>
                <a:t>bid tender rate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18704" y="2937510"/>
              <a:ext cx="2557272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200" dirty="0">
                  <a:solidFill>
                    <a:srgbClr val="F4F0E6"/>
                  </a:solidFill>
                  <a:latin typeface="Segoe UI"/>
                  <a:ea typeface="Segoe UI"/>
                  <a:cs typeface="Segoe UI"/>
                </a:rPr>
                <a:t>2 · First forensics on the state's</a:t>
              </a:r>
              <a:br/>
              <a:r>
                <a:rPr lang="en-US" sz="1200" dirty="0">
                  <a:solidFill>
                    <a:srgbClr val="F4F0E6"/>
                  </a:solidFill>
                  <a:latin typeface="Segoe UI"/>
                  <a:ea typeface="Segoe UI"/>
                  <a:cs typeface="Segoe UI"/>
                </a:rPr>
                <a:t>own geo-tagged photo corpus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18704" y="3566160"/>
              <a:ext cx="2564892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200" dirty="0">
                  <a:solidFill>
                    <a:srgbClr val="F4F0E6"/>
                  </a:solidFill>
                  <a:latin typeface="Segoe UI"/>
                  <a:ea typeface="Segoe UI"/>
                  <a:cs typeface="Segoe UI"/>
                </a:rPr>
                <a:t>3 · First inbound voice channel for</a:t>
              </a:r>
              <a:br/>
              <a:r>
                <a:rPr lang="en-US" sz="1200" dirty="0">
                  <a:solidFill>
                    <a:srgbClr val="F4F0E6"/>
                  </a:solidFill>
                  <a:latin typeface="Segoe UI"/>
                  <a:ea typeface="Segoe UI"/>
                  <a:cs typeface="Segoe UI"/>
                </a:rPr>
                <a:t>scheme spending data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18704" y="4194810"/>
              <a:ext cx="2519172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200" dirty="0">
                  <a:solidFill>
                    <a:srgbClr val="F4F0E6"/>
                  </a:solidFill>
                  <a:latin typeface="Segoe UI"/>
                  <a:ea typeface="Segoe UI"/>
                  <a:cs typeface="Segoe UI"/>
                </a:rPr>
                <a:t>4 · First audit-finding → recovery</a:t>
              </a:r>
              <a:br/>
              <a:r>
                <a:rPr lang="en-US" sz="1200" dirty="0">
                  <a:solidFill>
                    <a:srgbClr val="F4F0E6"/>
                  </a:solidFill>
                  <a:latin typeface="Segoe UI"/>
                  <a:ea typeface="Segoe UI"/>
                  <a:cs typeface="Segoe UI"/>
                </a:rPr>
                <a:t>tracker (0 ATRs today)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18704" y="4823460"/>
              <a:ext cx="2534412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200" dirty="0">
                  <a:solidFill>
                    <a:srgbClr val="F4F0E6"/>
                  </a:solidFill>
                  <a:latin typeface="Segoe UI"/>
                  <a:ea typeface="Segoe UI"/>
                  <a:cs typeface="Segoe UI"/>
                </a:rPr>
                <a:t>5 · First cross-scheme panchayat</a:t>
              </a:r>
              <a:br/>
              <a:r>
                <a:rPr lang="en-US" sz="1200" dirty="0">
                  <a:solidFill>
                    <a:srgbClr val="F4F0E6"/>
                  </a:solidFill>
                  <a:latin typeface="Segoe UI"/>
                  <a:ea typeface="Segoe UI"/>
                  <a:cs typeface="Segoe UI"/>
                </a:rPr>
                <a:t>view on the LGD spine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19466" y="5277802"/>
              <a:ext cx="2230946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1050" i="1" dirty="0">
                  <a:solidFill>
                    <a:srgbClr val="8A94AC"/>
                  </a:solidFill>
                  <a:latin typeface="Georgia"/>
                  <a:ea typeface="Georgia"/>
                  <a:cs typeface="Georgia"/>
                </a:rPr>
                <a:t>Verified by web search, Jul 2026 —</a:t>
              </a:r>
              <a:br/>
              <a:r>
                <a:rPr lang="en-US" sz="1050" i="1" dirty="0">
                  <a:solidFill>
                    <a:srgbClr val="8A94AC"/>
                  </a:solidFill>
                  <a:latin typeface="Georgia"/>
                  <a:ea typeface="Georgia"/>
                  <a:cs typeface="Georgia"/>
                </a:rPr>
                <a:t>no CVC / CPPP / GeM figure exists.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4838" y="6191250"/>
            <a:ext cx="10982325" cy="326707"/>
            <a:chOff x="604838" y="6191250"/>
            <a:chExt cx="10982325" cy="326707"/>
          </a:xfrm>
        </p:grpSpPr>
        <p:sp>
          <p:nvSpPr>
            <p:cNvPr id="51" name="Line 51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BE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4838" y="6341745"/>
              <a:ext cx="22866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SAAKSHI — the witness for every rupee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081032" y="6341745"/>
              <a:ext cx="25061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GovTech &amp; Public Service Delivery · 12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6646" y="659606"/>
            <a:ext cx="8268639" cy="893350"/>
            <a:chOff x="596646" y="659606"/>
            <a:chExt cx="8268639" cy="893350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59606"/>
              <a:ext cx="3327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225" dirty="0">
                  <a:solidFill>
                    <a:srgbClr val="D98A2B"/>
                  </a:solidFill>
                  <a:latin typeface="Segoe UI"/>
                  <a:ea typeface="Segoe UI"/>
                  <a:cs typeface="Segoe UI"/>
                </a:rPr>
                <a:t>TECHNOLOGY &amp; IMPLEMENTATION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924878"/>
              <a:ext cx="52729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Five rules, enforced in code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3504" y="1318260"/>
              <a:ext cx="82617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>Every choice is embedded, openly licensed, and runnable from a single command. Reliability over novelty.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" y="1695450"/>
            <a:ext cx="5905500" cy="704850"/>
            <a:chOff x="609600" y="1695450"/>
            <a:chExt cx="5905500" cy="704850"/>
          </a:xfrm>
        </p:grpSpPr>
        <p:sp>
          <p:nvSpPr>
            <p:cNvPr id="6" name="Rectangle 6"/>
            <p:cNvSpPr/>
            <p:nvPr/>
          </p:nvSpPr>
          <p:spPr>
            <a:xfrm>
              <a:off x="609600" y="1695450"/>
              <a:ext cx="5905500" cy="704850"/>
            </a:xfrm>
            <a:prstGeom prst="roundRect">
              <a:avLst>
                <a:gd name="adj" fmla="val 8108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1342" y="1854518"/>
              <a:ext cx="50561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R1 · Deterministic path for anything a citizen sees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2485" y="2126456"/>
              <a:ext cx="46947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Hashes, date comparisons, GROUP BYs — ML lives in triage only.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9600" y="2476500"/>
            <a:ext cx="5905500" cy="704850"/>
            <a:chOff x="609600" y="2476500"/>
            <a:chExt cx="5905500" cy="704850"/>
          </a:xfrm>
        </p:grpSpPr>
        <p:sp>
          <p:nvSpPr>
            <p:cNvPr id="10" name="Rectangle 10"/>
            <p:cNvSpPr/>
            <p:nvPr/>
          </p:nvSpPr>
          <p:spPr>
            <a:xfrm>
              <a:off x="609600" y="2476500"/>
              <a:ext cx="5905500" cy="704850"/>
            </a:xfrm>
            <a:prstGeom prst="roundRect">
              <a:avLst>
                <a:gd name="adj" fmla="val 8108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1342" y="2635568"/>
              <a:ext cx="3280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R2 · No LLM ever writes a query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2907506"/>
              <a:ext cx="46684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An intent router picks one of ~40 vetted, unit-tested queries.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3257550"/>
            <a:ext cx="5948023" cy="704850"/>
            <a:chOff x="609600" y="3257550"/>
            <a:chExt cx="5948023" cy="704850"/>
          </a:xfrm>
        </p:grpSpPr>
        <p:sp>
          <p:nvSpPr>
            <p:cNvPr id="14" name="Rectangle 14"/>
            <p:cNvSpPr/>
            <p:nvPr/>
          </p:nvSpPr>
          <p:spPr>
            <a:xfrm>
              <a:off x="609600" y="3257550"/>
              <a:ext cx="5905500" cy="704850"/>
            </a:xfrm>
            <a:prstGeom prst="roundRect">
              <a:avLst>
                <a:gd name="adj" fmla="val 8108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1342" y="3416618"/>
              <a:ext cx="25468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R3 · Boring baseline first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2485" y="3688556"/>
              <a:ext cx="57251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LightGBM on graph features before any GNN (GADBench: tree ensembles win).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4038600"/>
            <a:ext cx="5905500" cy="704850"/>
            <a:chOff x="609600" y="4038600"/>
            <a:chExt cx="5905500" cy="704850"/>
          </a:xfrm>
        </p:grpSpPr>
        <p:sp>
          <p:nvSpPr>
            <p:cNvPr id="18" name="Rectangle 18"/>
            <p:cNvSpPr/>
            <p:nvPr/>
          </p:nvSpPr>
          <p:spPr>
            <a:xfrm>
              <a:off x="609600" y="4038600"/>
              <a:ext cx="5905500" cy="704850"/>
            </a:xfrm>
            <a:prstGeom prst="roundRect">
              <a:avLst>
                <a:gd name="adj" fmla="val 8108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1342" y="4197668"/>
              <a:ext cx="37989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R4 · Every number carries provenance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2485" y="4469606"/>
              <a:ext cx="43089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Source portal + fetch timestamp + row id + document URL.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4819650"/>
            <a:ext cx="5905500" cy="704850"/>
            <a:chOff x="609600" y="4819650"/>
            <a:chExt cx="5905500" cy="704850"/>
          </a:xfrm>
        </p:grpSpPr>
        <p:sp>
          <p:nvSpPr>
            <p:cNvPr id="22" name="Rectangle 22"/>
            <p:cNvSpPr/>
            <p:nvPr/>
          </p:nvSpPr>
          <p:spPr>
            <a:xfrm>
              <a:off x="609600" y="4819650"/>
              <a:ext cx="5905500" cy="704850"/>
            </a:xfrm>
            <a:prstGeom prst="roundRect">
              <a:avLst>
                <a:gd name="adj" fmla="val 8108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1342" y="4978718"/>
              <a:ext cx="44410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R5 · Ship the honest limit with the capability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2485" y="5250656"/>
              <a:ext cx="48413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Each detector emits its own confidence and its own failure mode.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743700" y="1695450"/>
            <a:ext cx="4838700" cy="2171700"/>
            <a:chOff x="6743700" y="1695450"/>
            <a:chExt cx="4838700" cy="2171700"/>
          </a:xfrm>
        </p:grpSpPr>
        <p:sp>
          <p:nvSpPr>
            <p:cNvPr id="26" name="Rectangle 26"/>
            <p:cNvSpPr/>
            <p:nvPr/>
          </p:nvSpPr>
          <p:spPr>
            <a:xfrm>
              <a:off x="6743700" y="1695450"/>
              <a:ext cx="4838700" cy="2171700"/>
            </a:xfrm>
            <a:prstGeom prst="roundRect">
              <a:avLst>
                <a:gd name="adj" fmla="val 3509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964680" y="1857375"/>
              <a:ext cx="3617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The stack — all open, all runnable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972300" y="2171700"/>
              <a:ext cx="1257300" cy="323850"/>
            </a:xfrm>
            <a:prstGeom prst="roundRect">
              <a:avLst>
                <a:gd name="adj" fmla="val 17647"/>
              </a:avLst>
            </a:prstGeom>
            <a:solidFill>
              <a:srgbClr val="EDE6D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19366" y="2277428"/>
              <a:ext cx="490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DuckDB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343900" y="2171700"/>
              <a:ext cx="1257300" cy="323850"/>
            </a:xfrm>
            <a:prstGeom prst="roundRect">
              <a:avLst>
                <a:gd name="adj" fmla="val 17647"/>
              </a:avLst>
            </a:prstGeom>
            <a:solidFill>
              <a:srgbClr val="EDE6D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90966" y="2277428"/>
              <a:ext cx="9221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KùzuDB graph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715500" y="2171700"/>
              <a:ext cx="1638300" cy="323850"/>
            </a:xfrm>
            <a:prstGeom prst="roundRect">
              <a:avLst>
                <a:gd name="adj" fmla="val 17647"/>
              </a:avLst>
            </a:prstGeom>
            <a:solidFill>
              <a:srgbClr val="EDE6D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62566" y="2277428"/>
              <a:ext cx="12595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imagehash · pHash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972300" y="2590800"/>
              <a:ext cx="1524000" cy="323850"/>
            </a:xfrm>
            <a:prstGeom prst="roundRect">
              <a:avLst>
                <a:gd name="adj" fmla="val 17647"/>
              </a:avLst>
            </a:prstGeom>
            <a:solidFill>
              <a:srgbClr val="EDE6D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19366" y="2696528"/>
              <a:ext cx="12320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Sentinel-2 (free)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610600" y="2590800"/>
              <a:ext cx="1257300" cy="323850"/>
            </a:xfrm>
            <a:prstGeom prst="roundRect">
              <a:avLst>
                <a:gd name="adj" fmla="val 17647"/>
              </a:avLst>
            </a:prstGeom>
            <a:solidFill>
              <a:srgbClr val="EDE6D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57666" y="2696528"/>
              <a:ext cx="6429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LightGBM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982200" y="2590800"/>
              <a:ext cx="1371600" cy="323850"/>
            </a:xfrm>
            <a:prstGeom prst="roundRect">
              <a:avLst>
                <a:gd name="adj" fmla="val 17647"/>
              </a:avLst>
            </a:prstGeom>
            <a:solidFill>
              <a:srgbClr val="EDE6D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129266" y="2696528"/>
              <a:ext cx="7704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splink (ER)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972300" y="3009900"/>
              <a:ext cx="1524000" cy="323850"/>
            </a:xfrm>
            <a:prstGeom prst="roundRect">
              <a:avLst>
                <a:gd name="adj" fmla="val 17647"/>
              </a:avLst>
            </a:prstGeom>
            <a:solidFill>
              <a:srgbClr val="EDE6D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119366" y="3115628"/>
              <a:ext cx="8040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IndicTrans2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610600" y="3009900"/>
              <a:ext cx="1219200" cy="323850"/>
            </a:xfrm>
            <a:prstGeom prst="roundRect">
              <a:avLst>
                <a:gd name="adj" fmla="val 17647"/>
              </a:avLst>
            </a:prstGeom>
            <a:solidFill>
              <a:srgbClr val="EDE6D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757666" y="3115628"/>
              <a:ext cx="5658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Bhashini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944100" y="3009900"/>
              <a:ext cx="1409700" cy="323850"/>
            </a:xfrm>
            <a:prstGeom prst="roundRect">
              <a:avLst>
                <a:gd name="adj" fmla="val 17647"/>
              </a:avLst>
            </a:prstGeom>
            <a:solidFill>
              <a:srgbClr val="EDE6D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091166" y="3115628"/>
              <a:ext cx="1062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FastAPI + HTMX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66966" y="3544252"/>
              <a:ext cx="4568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i="1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>MIT / Apache only — required, and it makes the demo reproducible.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743700" y="3981450"/>
            <a:ext cx="4838700" cy="1543050"/>
            <a:chOff x="6743700" y="3981450"/>
            <a:chExt cx="4838700" cy="1543050"/>
          </a:xfrm>
        </p:grpSpPr>
        <p:sp>
          <p:nvSpPr>
            <p:cNvPr id="48" name="Rectangle 48"/>
            <p:cNvSpPr/>
            <p:nvPr/>
          </p:nvSpPr>
          <p:spPr>
            <a:xfrm>
              <a:off x="6743700" y="3981450"/>
              <a:ext cx="4838700" cy="1543050"/>
            </a:xfrm>
            <a:prstGeom prst="roundRect">
              <a:avLst>
                <a:gd name="adj" fmla="val 4938"/>
              </a:avLst>
            </a:prstGeom>
            <a:solidFill>
              <a:srgbClr val="202A3E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64680" y="4162425"/>
              <a:ext cx="44552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4F0E6"/>
                  </a:solidFill>
                  <a:latin typeface="Georgia"/>
                  <a:ea typeface="Georgia"/>
                  <a:cs typeface="Georgia"/>
                </a:rPr>
                <a:t>Why an intent router, not text-to-SQL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66585" y="4602956"/>
              <a:ext cx="3773678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12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Best models get 54–69% on graph queries; small open</a:t>
              </a:r>
              <a:br/>
              <a:r>
                <a:rPr lang="en-US" sz="112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models 6–19% and never abstain. A query that may end</a:t>
              </a:r>
              <a:br/>
              <a:r>
                <a:rPr lang="en-US" sz="112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up in a legal proceeding is a lookup, not a guess.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4838" y="6191250"/>
            <a:ext cx="10982325" cy="326707"/>
            <a:chOff x="604838" y="6191250"/>
            <a:chExt cx="10982325" cy="326707"/>
          </a:xfrm>
        </p:grpSpPr>
        <p:sp>
          <p:nvSpPr>
            <p:cNvPr id="52" name="Line 52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BE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04838" y="6341745"/>
              <a:ext cx="22866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SAAKSHI — the witness for every rupee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81032" y="6341745"/>
              <a:ext cx="25061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GovTech &amp; Public Service Delivery · 13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6646" y="659606"/>
            <a:ext cx="8032521" cy="893350"/>
            <a:chOff x="596646" y="659606"/>
            <a:chExt cx="8032521" cy="893350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59606"/>
              <a:ext cx="315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225" dirty="0">
                  <a:solidFill>
                    <a:srgbClr val="D98A2B"/>
                  </a:solidFill>
                  <a:latin typeface="Segoe UI"/>
                  <a:ea typeface="Segoe UI"/>
                  <a:cs typeface="Segoe UI"/>
                </a:rPr>
                <a:t>SCALABILITY &amp; SUSTAINABILITY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924878"/>
              <a:ext cx="68534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National on day one, by construction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3504" y="1318260"/>
              <a:ext cx="80256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>Because it keys on the LGD code, the graph covers 255,297 gram panchayats the moment ingest runs.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9600" y="1695450"/>
            <a:ext cx="5905500" cy="2819400"/>
            <a:chOff x="609600" y="1695450"/>
            <a:chExt cx="5905500" cy="2819400"/>
          </a:xfrm>
        </p:grpSpPr>
        <p:sp>
          <p:nvSpPr>
            <p:cNvPr id="6" name="Rectangle 6"/>
            <p:cNvSpPr/>
            <p:nvPr/>
          </p:nvSpPr>
          <p:spPr>
            <a:xfrm>
              <a:off x="609600" y="1695450"/>
              <a:ext cx="5905500" cy="2819400"/>
            </a:xfrm>
            <a:prstGeom prst="roundRect">
              <a:avLst>
                <a:gd name="adj" fmla="val 2703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0580" y="1857375"/>
              <a:ext cx="50295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There is no "roll out to more districts" phase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2485" y="2278856"/>
              <a:ext cx="38306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4A5162"/>
                </a:buClr>
                <a:buSzTx/>
                <a:buFontTx/>
                <a:buChar char="•"/>
              </a:pPr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KOSH ingest — embarrassingly parallel per district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583656"/>
              <a:ext cx="34749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4A5162"/>
                </a:buClr>
                <a:buSzTx/>
                <a:buFontTx/>
                <a:buChar char="•"/>
              </a:pPr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Photo pHash — linear, microseconds per image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888456"/>
              <a:ext cx="34304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4A5162"/>
                </a:buClr>
                <a:buSzTx/>
                <a:buFontTx/>
                <a:buChar char="•"/>
              </a:pPr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Satellite — Sentinel-2 is free; ~5-day revisit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3193256"/>
              <a:ext cx="41168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4A5162"/>
                </a:buClr>
                <a:buSzTx/>
                <a:buFontTx/>
                <a:buChar char="•"/>
              </a:pPr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Network — LightGBM over a block-level graph; sharded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3498056"/>
              <a:ext cx="3883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4A5162"/>
                </a:buClr>
                <a:buSzTx/>
                <a:buFontTx/>
                <a:buChar char="•"/>
              </a:pPr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Entity resolution — ANN blocking makes it tractable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2485" y="3802856"/>
              <a:ext cx="41483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C0392B"/>
                </a:buClr>
                <a:buSzTx/>
                <a:buFontTx/>
                <a:buChar char="•"/>
              </a:pPr>
              <a:r>
                <a:rPr lang="en-US" sz="1120" dirty="0">
                  <a:solidFill>
                    <a:srgbClr val="C0392B"/>
                  </a:solidFill>
                  <a:latin typeface="Segoe UI"/>
                  <a:ea typeface="Segoe UI"/>
                  <a:cs typeface="Segoe UI"/>
                </a:rPr>
                <a:t>Voice — scales with cost/minute · the real cost centre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2485" y="4183856"/>
              <a:ext cx="5473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i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The graph either has the panchayat, or the panchayat does not exist.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43700" y="1695450"/>
            <a:ext cx="4869306" cy="2819400"/>
            <a:chOff x="6743700" y="1695450"/>
            <a:chExt cx="4869306" cy="2819400"/>
          </a:xfrm>
        </p:grpSpPr>
        <p:sp>
          <p:nvSpPr>
            <p:cNvPr id="16" name="Rectangle 16"/>
            <p:cNvSpPr/>
            <p:nvPr/>
          </p:nvSpPr>
          <p:spPr>
            <a:xfrm>
              <a:off x="6743700" y="1695450"/>
              <a:ext cx="4838700" cy="2819400"/>
            </a:xfrm>
            <a:prstGeom prst="roundRect">
              <a:avLst>
                <a:gd name="adj" fmla="val 2703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64680" y="1857375"/>
              <a:ext cx="3214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Who pays for it in year three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66204" y="2251710"/>
              <a:ext cx="21041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C6488"/>
                  </a:solidFill>
                  <a:latin typeface="Segoe UI"/>
                  <a:ea typeface="Segoe UI"/>
                  <a:cs typeface="Segoe UI"/>
                </a:rPr>
                <a:t>1 · Institutional adoption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66966" y="2496502"/>
              <a:ext cx="3384423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105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MoPR (AuditOnline), DARPG (CPGRAMS), state SAUs —</a:t>
              </a:r>
              <a:br/>
              <a:r>
                <a:rPr lang="en-US" sz="105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start with one willing SAU as the adoption wedge.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66204" y="2842260"/>
              <a:ext cx="26180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C6488"/>
                  </a:solidFill>
                  <a:latin typeface="Segoe UI"/>
                  <a:ea typeface="Segoe UI"/>
                  <a:cs typeface="Segoe UI"/>
                </a:rPr>
                <a:t>2 · MIT open-source public good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66966" y="3087052"/>
              <a:ext cx="41345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LibTech, SNS and journalists become users, not customers.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66204" y="3432810"/>
              <a:ext cx="23252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C6488"/>
                  </a:solidFill>
                  <a:latin typeface="Segoe UI"/>
                  <a:ea typeface="Segoe UI"/>
                  <a:cs typeface="Segoe UI"/>
                </a:rPr>
                <a:t>3 · Cost-recovery analytics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66966" y="3677602"/>
              <a:ext cx="46460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Single-bid / repeat-winner analytics for CVC, CCI, state vigilance.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66585" y="4069556"/>
              <a:ext cx="44677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i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A collector wants it: it flags problems before CAG does.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4667250"/>
            <a:ext cx="10972800" cy="889158"/>
            <a:chOff x="609600" y="4667250"/>
            <a:chExt cx="10972800" cy="889158"/>
          </a:xfrm>
        </p:grpSpPr>
        <p:sp>
          <p:nvSpPr>
            <p:cNvPr id="26" name="Rectangle 26"/>
            <p:cNvSpPr/>
            <p:nvPr/>
          </p:nvSpPr>
          <p:spPr>
            <a:xfrm>
              <a:off x="609600" y="4667250"/>
              <a:ext cx="10972800" cy="876300"/>
            </a:xfrm>
            <a:prstGeom prst="roundRect">
              <a:avLst>
                <a:gd name="adj" fmla="val 8696"/>
              </a:avLst>
            </a:prstGeom>
            <a:solidFill>
              <a:srgbClr val="202A3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6780" y="4829175"/>
              <a:ext cx="24522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4F0E6"/>
                  </a:solidFill>
                  <a:latin typeface="Georgia"/>
                  <a:ea typeface="Georgia"/>
                  <a:cs typeface="Georgia"/>
                </a:rPr>
                <a:t>The honest cost model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8685" y="5136356"/>
              <a:ext cx="74079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The expensive layer is voice minutes, not AI. DTMF-first flows keep calls short and missed-call callback</a:t>
              </a:r>
              <a:br/>
              <a:r>
                <a:rPr lang="en-US" sz="112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inverts who pays; CSC integration (already wired into CPGRAMS) is a zero-marginal-cost assisted channel.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191250"/>
            <a:ext cx="10982325" cy="326707"/>
            <a:chOff x="604838" y="6191250"/>
            <a:chExt cx="10982325" cy="326707"/>
          </a:xfrm>
        </p:grpSpPr>
        <p:sp>
          <p:nvSpPr>
            <p:cNvPr id="30" name="Line 30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B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4838" y="6341745"/>
              <a:ext cx="22866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SAAKSHI — the witness for every rupee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81032" y="6341745"/>
              <a:ext cx="25061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GovTech &amp; Public Service Delivery · 14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6646" y="659606"/>
            <a:ext cx="8586721" cy="893350"/>
            <a:chOff x="596646" y="659606"/>
            <a:chExt cx="8586721" cy="893350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59606"/>
              <a:ext cx="3946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225" dirty="0">
                  <a:solidFill>
                    <a:srgbClr val="D98A2B"/>
                  </a:solidFill>
                  <a:latin typeface="Segoe UI"/>
                  <a:ea typeface="Segoe UI"/>
                  <a:cs typeface="Segoe UI"/>
                </a:rPr>
                <a:t>EXPECTED SOCIAL &amp; ECONOMIC IMPACT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924878"/>
              <a:ext cx="65133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Framed as mechanisms, not wishes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3504" y="1318260"/>
              <a:ext cx="85798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>The addressable scale is enormous — but every claim below is a lever we can name, not a number we hope for.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" y="1695450"/>
            <a:ext cx="2552700" cy="1219200"/>
            <a:chOff x="609600" y="1695450"/>
            <a:chExt cx="2552700" cy="1219200"/>
          </a:xfrm>
        </p:grpSpPr>
        <p:sp>
          <p:nvSpPr>
            <p:cNvPr id="6" name="Rectangle 6"/>
            <p:cNvSpPr/>
            <p:nvPr/>
          </p:nvSpPr>
          <p:spPr>
            <a:xfrm>
              <a:off x="609600" y="1695450"/>
              <a:ext cx="2552700" cy="1219200"/>
            </a:xfrm>
            <a:prstGeom prst="roundRect">
              <a:avLst>
                <a:gd name="adj" fmla="val 6250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2198" y="1945958"/>
              <a:ext cx="17256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C0392B"/>
                  </a:solidFill>
                  <a:latin typeface="Georgia"/>
                  <a:ea typeface="Georgia"/>
                  <a:cs typeface="Georgia"/>
                </a:rPr>
                <a:t>₹878 cr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2866" y="2477452"/>
              <a:ext cx="1177481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105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untraced MGNREGA</a:t>
              </a:r>
              <a:br/>
              <a:r>
                <a:rPr lang="en-US" sz="105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misappropriation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314700" y="1695450"/>
            <a:ext cx="2552700" cy="1219200"/>
            <a:chOff x="3314700" y="1695450"/>
            <a:chExt cx="2552700" cy="1219200"/>
          </a:xfrm>
        </p:grpSpPr>
        <p:sp>
          <p:nvSpPr>
            <p:cNvPr id="10" name="Rectangle 10"/>
            <p:cNvSpPr/>
            <p:nvPr/>
          </p:nvSpPr>
          <p:spPr>
            <a:xfrm>
              <a:off x="3314700" y="1695450"/>
              <a:ext cx="2552700" cy="1219200"/>
            </a:xfrm>
            <a:prstGeom prst="roundRect">
              <a:avLst>
                <a:gd name="adj" fmla="val 6250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528060" y="1962150"/>
              <a:ext cx="110581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D98A2B"/>
                  </a:solidFill>
                  <a:latin typeface="Georgia"/>
                  <a:ea typeface="Georgia"/>
                  <a:cs typeface="Georgia"/>
                </a:rPr>
                <a:t>100%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37966" y="2477452"/>
              <a:ext cx="1517523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105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machine-screened vs</a:t>
              </a:r>
              <a:br/>
              <a:r>
                <a:rPr lang="en-US" sz="105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38.58% audited by hand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19800" y="1695450"/>
            <a:ext cx="2552700" cy="1219200"/>
            <a:chOff x="6019800" y="1695450"/>
            <a:chExt cx="2552700" cy="1219200"/>
          </a:xfrm>
        </p:grpSpPr>
        <p:sp>
          <p:nvSpPr>
            <p:cNvPr id="14" name="Rectangle 14"/>
            <p:cNvSpPr/>
            <p:nvPr/>
          </p:nvSpPr>
          <p:spPr>
            <a:xfrm>
              <a:off x="6019800" y="1695450"/>
              <a:ext cx="2552700" cy="1219200"/>
            </a:xfrm>
            <a:prstGeom prst="roundRect">
              <a:avLst>
                <a:gd name="adj" fmla="val 6250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35446" y="2010728"/>
              <a:ext cx="18158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overnight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43066" y="2477452"/>
              <a:ext cx="1230821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105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detection latency,</a:t>
              </a:r>
              <a:br/>
              <a:r>
                <a:rPr lang="en-US" sz="105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down from months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724900" y="1695450"/>
            <a:ext cx="2857500" cy="1219200"/>
            <a:chOff x="8724900" y="1695450"/>
            <a:chExt cx="2857500" cy="1219200"/>
          </a:xfrm>
        </p:grpSpPr>
        <p:sp>
          <p:nvSpPr>
            <p:cNvPr id="18" name="Rectangle 18"/>
            <p:cNvSpPr/>
            <p:nvPr/>
          </p:nvSpPr>
          <p:spPr>
            <a:xfrm>
              <a:off x="8724900" y="1695450"/>
              <a:ext cx="2857500" cy="1219200"/>
            </a:xfrm>
            <a:prstGeom prst="roundRect">
              <a:avLst>
                <a:gd name="adj" fmla="val 6250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940546" y="2010728"/>
              <a:ext cx="24633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₹19.8 lakh cr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48166" y="2477452"/>
              <a:ext cx="1637538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105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GeM orders now in</a:t>
              </a:r>
              <a:br/>
              <a:r>
                <a:rPr lang="en-US" sz="105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red-flag screening scope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3086100"/>
            <a:ext cx="10972800" cy="1600200"/>
            <a:chOff x="609600" y="3086100"/>
            <a:chExt cx="10972800" cy="1600200"/>
          </a:xfrm>
        </p:grpSpPr>
        <p:sp>
          <p:nvSpPr>
            <p:cNvPr id="22" name="Rectangle 22"/>
            <p:cNvSpPr/>
            <p:nvPr/>
          </p:nvSpPr>
          <p:spPr>
            <a:xfrm>
              <a:off x="609600" y="3086100"/>
              <a:ext cx="10972800" cy="1600200"/>
            </a:xfrm>
            <a:prstGeom prst="roundRect">
              <a:avLst>
                <a:gd name="adj" fmla="val 4762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0961" y="3237071"/>
              <a:ext cx="20975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Why each is credible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2485" y="3574256"/>
              <a:ext cx="70053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4A5162"/>
                </a:buClr>
                <a:buSzTx/>
                <a:buFontTx/>
                <a:buChar char="•"/>
              </a:pPr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Coverage — screening is a batch job; compute does not get tired, and humans still adjudicate.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2485" y="3840956"/>
              <a:ext cx="89748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4A5162"/>
                </a:buClr>
                <a:buSzTx/>
                <a:buFontTx/>
                <a:buChar char="•"/>
              </a:pPr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Recovery — the binding constraint is 0 ATRs, not detection; a public clock on 62,745 observations is the cheapest lever.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2485" y="4107656"/>
              <a:ext cx="7962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4A5162"/>
                </a:buClr>
                <a:buSzTx/>
                <a:buFontTx/>
                <a:buChar char="•"/>
              </a:pPr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Deterrence — a contractor who believes every photo is hashed nationally faces a different expected cost.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2485" y="4374356"/>
              <a:ext cx="81888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4A5162"/>
                </a:buClr>
                <a:buSzTx/>
                <a:buFontTx/>
                <a:buChar char="•"/>
              </a:pPr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Inclusion — the first channel where a non-literate rural woman can interrogate spending, free, anonymously.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4857750"/>
            <a:ext cx="10993706" cy="1123950"/>
            <a:chOff x="609600" y="4857750"/>
            <a:chExt cx="10993706" cy="1123950"/>
          </a:xfrm>
        </p:grpSpPr>
        <p:sp>
          <p:nvSpPr>
            <p:cNvPr id="29" name="Rectangle 29"/>
            <p:cNvSpPr/>
            <p:nvPr/>
          </p:nvSpPr>
          <p:spPr>
            <a:xfrm>
              <a:off x="609600" y="4857750"/>
              <a:ext cx="10972800" cy="1123950"/>
            </a:xfrm>
            <a:prstGeom prst="roundRect">
              <a:avLst>
                <a:gd name="adj" fmla="val 6780"/>
              </a:avLst>
            </a:prstGeom>
            <a:solidFill>
              <a:srgbClr val="202A3E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07161" y="5065871"/>
              <a:ext cx="106183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i="1" dirty="0">
                  <a:solidFill>
                    <a:srgbClr val="F4F0E6"/>
                  </a:solidFill>
                  <a:latin typeface="Georgia"/>
                  <a:ea typeface="Georgia"/>
                  <a:cs typeface="Georgia"/>
                </a:rPr>
                <a:t>"We do not claim SAAKSHI recovers ₹878 crore. We claim that ₹878 crore is untraced because detection is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7161" y="5332571"/>
              <a:ext cx="106961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i="1" dirty="0">
                  <a:solidFill>
                    <a:srgbClr val="F4F0E6"/>
                  </a:solidFill>
                  <a:latin typeface="Georgia"/>
                  <a:ea typeface="Georgia"/>
                  <a:cs typeface="Georgia"/>
                </a:rPr>
                <a:t>manual and follow-up nonexistent — both engineering problems. If a public clock moves recovery from 13% to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7161" y="5599271"/>
              <a:ext cx="96287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i="1" dirty="0">
                  <a:solidFill>
                    <a:srgbClr val="F4F0E6"/>
                  </a:solidFill>
                  <a:latin typeface="Georgia"/>
                  <a:ea typeface="Georgia"/>
                  <a:cs typeface="Georgia"/>
                </a:rPr>
                <a:t>20%, that is ~₹70 crore a year, from a system that runs on a laptop and free satellite imagery."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4838" y="6191250"/>
            <a:ext cx="10982325" cy="326707"/>
            <a:chOff x="604838" y="6191250"/>
            <a:chExt cx="10982325" cy="326707"/>
          </a:xfrm>
        </p:grpSpPr>
        <p:sp>
          <p:nvSpPr>
            <p:cNvPr id="34" name="Line 34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BE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4838" y="6341745"/>
              <a:ext cx="22866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SAAKSHI — the witness for every rupee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81032" y="6341745"/>
              <a:ext cx="25061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GovTech &amp; Public Service Delivery · 15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6646" y="659606"/>
            <a:ext cx="8316426" cy="893350"/>
            <a:chOff x="596646" y="659606"/>
            <a:chExt cx="8316426" cy="893350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59606"/>
              <a:ext cx="29290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225" dirty="0">
                  <a:solidFill>
                    <a:srgbClr val="D98A2B"/>
                  </a:solidFill>
                  <a:latin typeface="Segoe UI"/>
                  <a:ea typeface="Segoe UI"/>
                  <a:cs typeface="Segoe UI"/>
                </a:rPr>
                <a:t>ALIGNMENT &amp; HONEST LIMITS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924878"/>
              <a:ext cx="76746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Reuse, not rebuild — and know your limits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3504" y="1318260"/>
              <a:ext cx="8309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>SAAKSHI consumes India's existing digital public infrastructure, and states in writing what it cannot do.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695450"/>
            <a:ext cx="5905500" cy="4267200"/>
            <a:chOff x="609600" y="1695450"/>
            <a:chExt cx="5905500" cy="4267200"/>
          </a:xfrm>
        </p:grpSpPr>
        <p:sp>
          <p:nvSpPr>
            <p:cNvPr id="6" name="Rectangle 6"/>
            <p:cNvSpPr/>
            <p:nvPr/>
          </p:nvSpPr>
          <p:spPr>
            <a:xfrm>
              <a:off x="609600" y="1695450"/>
              <a:ext cx="5905500" cy="4267200"/>
            </a:xfrm>
            <a:prstGeom prst="roundRect">
              <a:avLst>
                <a:gd name="adj" fmla="val 1786"/>
              </a:avLst>
            </a:prstGeom>
            <a:solidFill>
              <a:srgbClr val="FBF9F3"/>
            </a:solidFill>
            <a:ln w="9525">
              <a:solidFill>
                <a:srgbClr val="D8D0B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0580" y="1857375"/>
              <a:ext cx="37034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Alignment with national priorities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2485" y="2278856"/>
              <a:ext cx="5052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Viksit Bharat 2047</a:t>
              </a:r>
              <a:r>
                <a:rPr lang="en-US" sz="112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 xml:space="preserve"> — capacity &amp; public trust as growth prerequisites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621756"/>
              <a:ext cx="46853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Digital India</a:t>
              </a:r>
              <a:r>
                <a:rPr lang="en-US" sz="112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 xml:space="preserve"> — consumes LGD, API Setu, Bhashini, CPGRAMS, DBT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964656"/>
              <a:ext cx="42146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Bhashini</a:t>
              </a:r>
              <a:r>
                <a:rPr lang="en-US" sz="112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 xml:space="preserve"> — operationalised for voice-first inbound access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3307556"/>
              <a:ext cx="51356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RTI Act 2005 §6(1)</a:t>
              </a:r>
              <a:r>
                <a:rPr lang="en-US" sz="112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 xml:space="preserve"> — auto-drafts specific, un-refusable applications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3650456"/>
              <a:ext cx="44078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MGNREGA §17</a:t>
              </a:r>
              <a:r>
                <a:rPr lang="en-US" sz="112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 xml:space="preserve"> — feeds the statutory Gram Sabha social audit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2485" y="3993356"/>
              <a:ext cx="45741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CPGRAMS guidelines</a:t>
              </a:r>
              <a:r>
                <a:rPr lang="en-US" sz="112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 xml:space="preserve"> — files through the 21-day official channel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2485" y="4336256"/>
              <a:ext cx="50482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DPDP Act 2023</a:t>
              </a:r>
              <a:r>
                <a:rPr lang="en-US" sz="112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 xml:space="preserve"> — no raw Aadhaar; pseudonymous, salted-hashed keys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2485" y="4679156"/>
              <a:ext cx="38900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02A3E"/>
                  </a:solidFill>
                  <a:latin typeface="Segoe UI"/>
                  <a:ea typeface="Segoe UI"/>
                  <a:cs typeface="Segoe UI"/>
                </a:rPr>
                <a:t>DBT Mission</a:t>
              </a:r>
              <a:r>
                <a:rPr lang="en-US" sz="1120" dirty="0">
                  <a:solidFill>
                    <a:srgbClr val="6E7688"/>
                  </a:solidFill>
                  <a:latin typeface="Segoe UI"/>
                  <a:ea typeface="Segoe UI"/>
                  <a:cs typeface="Segoe UI"/>
                </a:rPr>
                <a:t xml:space="preserve"> — adds the verification layer dedup lacks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2104" y="5166360"/>
              <a:ext cx="50657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i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It duplicates none of it. It sits on top and asks the question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2104" y="5394960"/>
              <a:ext cx="33491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i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the plumbing was never built to answer.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43700" y="1695450"/>
            <a:ext cx="4838700" cy="4267200"/>
            <a:chOff x="6743700" y="1695450"/>
            <a:chExt cx="4838700" cy="4267200"/>
          </a:xfrm>
        </p:grpSpPr>
        <p:sp>
          <p:nvSpPr>
            <p:cNvPr id="19" name="Rectangle 19"/>
            <p:cNvSpPr/>
            <p:nvPr/>
          </p:nvSpPr>
          <p:spPr>
            <a:xfrm>
              <a:off x="6743700" y="1695450"/>
              <a:ext cx="4838700" cy="4267200"/>
            </a:xfrm>
            <a:prstGeom prst="roundRect">
              <a:avLst>
                <a:gd name="adj" fmla="val 1786"/>
              </a:avLst>
            </a:prstGeom>
            <a:solidFill>
              <a:srgbClr val="202A3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64680" y="1857375"/>
              <a:ext cx="44650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4F0E6"/>
                  </a:solidFill>
                  <a:latin typeface="Georgia"/>
                  <a:ea typeface="Georgia"/>
                  <a:cs typeface="Georgia"/>
                </a:rPr>
                <a:t>What SAAKSHI deliberately does NOT do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66204" y="2308860"/>
              <a:ext cx="3220212" cy="834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200" dirty="0">
                  <a:solidFill>
                    <a:srgbClr val="F4F0E6"/>
                  </a:solidFill>
                  <a:latin typeface="Segoe UI"/>
                  <a:ea typeface="Segoe UI"/>
                  <a:cs typeface="Segoe UI"/>
                </a:rPr>
                <a:t>× Never sits between a citizen and their</a:t>
              </a:r>
              <a:br/>
              <a:r>
                <a:rPr lang="en-US" sz="120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entitlement — read-only, post-hoc. A false</a:t>
              </a:r>
              <a:br/>
              <a:r>
                <a:rPr lang="en-US" sz="120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positive costs an officer an explanation,</a:t>
              </a:r>
              <a:br/>
              <a:r>
                <a:rPr lang="en-US" sz="120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never a citizen her rice.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66204" y="3299460"/>
              <a:ext cx="2602992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200" dirty="0">
                  <a:solidFill>
                    <a:srgbClr val="F4F0E6"/>
                  </a:solidFill>
                  <a:latin typeface="Segoe UI"/>
                  <a:ea typeface="Segoe UI"/>
                  <a:cs typeface="Segoe UI"/>
                </a:rPr>
                <a:t>× Never names an individual official</a:t>
              </a:r>
            </a:p>
            <a:p>
              <a:pPr algn="l">
                <a:lnSpc>
                  <a:spcPts val="1575"/>
                </a:lnSpc>
              </a:pPr>
              <a:r>
                <a:rPr lang="en-US" sz="120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— designation only.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66204" y="3909060"/>
              <a:ext cx="3212592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200" dirty="0">
                  <a:solidFill>
                    <a:srgbClr val="F4F0E6"/>
                  </a:solidFill>
                  <a:latin typeface="Segoe UI"/>
                  <a:ea typeface="Segoe UI"/>
                  <a:cs typeface="Segoe UI"/>
                </a:rPr>
                <a:t>× Never claims to verify small assets from</a:t>
              </a:r>
              <a:br/>
              <a:r>
                <a:rPr lang="en-US" sz="120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satellite — 10 m pixel; toilets are invisible.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66204" y="4518660"/>
              <a:ext cx="35173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4F0E6"/>
                  </a:solidFill>
                  <a:latin typeface="Segoe UI"/>
                  <a:ea typeface="Segoe UI"/>
                  <a:cs typeface="Segoe UI"/>
                </a:rPr>
                <a:t>× Never lets an LLM write a database query.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6204" y="4861560"/>
              <a:ext cx="38709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4F0E6"/>
                  </a:solidFill>
                  <a:latin typeface="Segoe UI"/>
                  <a:ea typeface="Segoe UI"/>
                  <a:cs typeface="Segoe UI"/>
                </a:rPr>
                <a:t>× Never emits a single fused "corruption score."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66585" y="5364956"/>
              <a:ext cx="3866134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120" i="1" dirty="0">
                  <a:solidFill>
                    <a:srgbClr val="D98A2B"/>
                  </a:solidFill>
                  <a:latin typeface="Georgia"/>
                  <a:ea typeface="Georgia"/>
                  <a:cs typeface="Georgia"/>
                </a:rPr>
                <a:t>Knowing your limits scores higher than</a:t>
              </a:r>
              <a:br/>
              <a:r>
                <a:rPr lang="en-US" sz="1120" i="1" dirty="0">
                  <a:solidFill>
                    <a:srgbClr val="D98A2B"/>
                  </a:solidFill>
                  <a:latin typeface="Georgia"/>
                  <a:ea typeface="Georgia"/>
                  <a:cs typeface="Georgia"/>
                </a:rPr>
                <a:t>overclaiming — and a technical judge finds them anyway.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4838" y="6191250"/>
            <a:ext cx="10982325" cy="326707"/>
            <a:chOff x="604838" y="6191250"/>
            <a:chExt cx="10982325" cy="326707"/>
          </a:xfrm>
        </p:grpSpPr>
        <p:sp>
          <p:nvSpPr>
            <p:cNvPr id="28" name="Line 28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BE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4838" y="6341745"/>
              <a:ext cx="22866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SAAKSHI — the witness for every rupee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81032" y="6341745"/>
              <a:ext cx="25061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GovTech &amp; Public Service Delivery · 16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6646" y="659606"/>
            <a:ext cx="9483238" cy="764001"/>
            <a:chOff x="596646" y="659606"/>
            <a:chExt cx="9483238" cy="764001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59606"/>
              <a:ext cx="3037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225" dirty="0">
                  <a:solidFill>
                    <a:srgbClr val="D98A2B"/>
                  </a:solidFill>
                  <a:latin typeface="Segoe UI"/>
                  <a:ea typeface="Segoe UI"/>
                  <a:cs typeface="Segoe UI"/>
                </a:rPr>
                <a:t>WHERE TO LOOK · 100 MARKS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924878"/>
              <a:ext cx="94832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202A3E"/>
                  </a:solidFill>
                  <a:latin typeface="Georgia"/>
                  <a:ea typeface="Georgia"/>
                  <a:cs typeface="Georgia"/>
                </a:rPr>
                <a:t>Every review parameter, and where it is answered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9600" y="1562100"/>
            <a:ext cx="10972800" cy="292037"/>
            <a:chOff x="609600" y="1562100"/>
            <a:chExt cx="10972800" cy="292037"/>
          </a:xfrm>
        </p:grpSpPr>
        <p:sp>
          <p:nvSpPr>
            <p:cNvPr id="5" name="Rectangle 5"/>
            <p:cNvSpPr/>
            <p:nvPr/>
          </p:nvSpPr>
          <p:spPr>
            <a:xfrm>
              <a:off x="609600" y="1562100"/>
              <a:ext cx="10972800" cy="285750"/>
            </a:xfrm>
            <a:prstGeom prst="rect">
              <a:avLst/>
            </a:prstGeom>
            <a:solidFill>
              <a:srgbClr val="202A3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2866" y="1648778"/>
              <a:ext cx="1535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F4F0E6"/>
                  </a:solidFill>
                  <a:latin typeface="Segoe UI"/>
                  <a:ea typeface="Segoe UI"/>
                  <a:cs typeface="Segoe UI"/>
                </a:rPr>
                <a:t>REVIEW PARAMETER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842766" y="1648778"/>
              <a:ext cx="18179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F4F0E6"/>
                  </a:solidFill>
                  <a:latin typeface="Segoe UI"/>
                  <a:ea typeface="Segoe UI"/>
                  <a:cs typeface="Segoe UI"/>
                </a:rPr>
                <a:t>HOW SAAKSHI ANSWERS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" y="1866900"/>
            <a:ext cx="10972800" cy="571500"/>
            <a:chOff x="609600" y="1866900"/>
            <a:chExt cx="10972800" cy="571500"/>
          </a:xfrm>
        </p:grpSpPr>
        <p:sp>
          <p:nvSpPr>
            <p:cNvPr id="9" name="Rectangle 9"/>
            <p:cNvSpPr/>
            <p:nvPr/>
          </p:nvSpPr>
          <p:spPr>
            <a:xfrm>
              <a:off x="609600" y="1866900"/>
              <a:ext cx="10972800" cy="571500"/>
            </a:xfrm>
            <a:prstGeom prst="rect">
              <a:avLst/>
            </a:prstGeom>
            <a:solidFill>
              <a:srgbClr val="FBF9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723" y="2072164"/>
              <a:ext cx="19830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Problem–Solution Fit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42385" y="2088356"/>
              <a:ext cx="67501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Every layer maps to a live, cited failure — 0 ATRs, reused photos, no inbound voice channel.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9600" y="2457450"/>
            <a:ext cx="10972800" cy="571500"/>
            <a:chOff x="609600" y="2457450"/>
            <a:chExt cx="10972800" cy="571500"/>
          </a:xfrm>
        </p:grpSpPr>
        <p:sp>
          <p:nvSpPr>
            <p:cNvPr id="13" name="Rectangle 13"/>
            <p:cNvSpPr/>
            <p:nvPr/>
          </p:nvSpPr>
          <p:spPr>
            <a:xfrm>
              <a:off x="609600" y="2457450"/>
              <a:ext cx="10972800" cy="571500"/>
            </a:xfrm>
            <a:prstGeom prst="rect">
              <a:avLst/>
            </a:prstGeom>
            <a:solidFill>
              <a:srgbClr val="F1EAD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1723" y="2662714"/>
              <a:ext cx="22389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Innovation &amp; Uniqueness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42385" y="2678906"/>
              <a:ext cx="72062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Six novelty gaps and five Indian firsts — two research streams that converged on the same holes.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3048000"/>
            <a:ext cx="10972800" cy="571500"/>
            <a:chOff x="609600" y="3048000"/>
            <a:chExt cx="10972800" cy="571500"/>
          </a:xfrm>
        </p:grpSpPr>
        <p:sp>
          <p:nvSpPr>
            <p:cNvPr id="17" name="Rectangle 17"/>
            <p:cNvSpPr/>
            <p:nvPr/>
          </p:nvSpPr>
          <p:spPr>
            <a:xfrm>
              <a:off x="609600" y="3048000"/>
              <a:ext cx="10972800" cy="571500"/>
            </a:xfrm>
            <a:prstGeom prst="rect">
              <a:avLst/>
            </a:prstGeom>
            <a:solidFill>
              <a:srgbClr val="FBF9F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1723" y="3253264"/>
              <a:ext cx="2141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Feasibility &amp; Readiness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42385" y="3269456"/>
              <a:ext cx="7229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Public data, free imagery, open models only. The retrospective CAG validation is a runnable demo.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9600" y="3638550"/>
            <a:ext cx="10972800" cy="571500"/>
            <a:chOff x="609600" y="3638550"/>
            <a:chExt cx="10972800" cy="571500"/>
          </a:xfrm>
        </p:grpSpPr>
        <p:sp>
          <p:nvSpPr>
            <p:cNvPr id="21" name="Rectangle 21"/>
            <p:cNvSpPr/>
            <p:nvPr/>
          </p:nvSpPr>
          <p:spPr>
            <a:xfrm>
              <a:off x="609600" y="3638550"/>
              <a:ext cx="10972800" cy="571500"/>
            </a:xfrm>
            <a:prstGeom prst="rect">
              <a:avLst/>
            </a:prstGeom>
            <a:solidFill>
              <a:srgbClr val="F1EAD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1723" y="3843814"/>
              <a:ext cx="25213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Scalability &amp; Sustainability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842385" y="3860006"/>
              <a:ext cx="65314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National on day one via the LGD spine; honest voice-minutes cost model; MIT public good.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4229100"/>
            <a:ext cx="10972800" cy="571500"/>
            <a:chOff x="609600" y="4229100"/>
            <a:chExt cx="10972800" cy="571500"/>
          </a:xfrm>
        </p:grpSpPr>
        <p:sp>
          <p:nvSpPr>
            <p:cNvPr id="25" name="Rectangle 25"/>
            <p:cNvSpPr/>
            <p:nvPr/>
          </p:nvSpPr>
          <p:spPr>
            <a:xfrm>
              <a:off x="609600" y="4229100"/>
              <a:ext cx="10972800" cy="571500"/>
            </a:xfrm>
            <a:prstGeom prst="rect">
              <a:avLst/>
            </a:prstGeom>
            <a:solidFill>
              <a:srgbClr val="FBF9F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1723" y="4434364"/>
              <a:ext cx="15860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Impact Potential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42385" y="4450556"/>
              <a:ext cx="69397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₹878 cr untraced; recovery 13%→20% ≈ ₹70 cr/yr — screening scope across ₹19.8 lakh cr GeM.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" y="4819650"/>
            <a:ext cx="10972800" cy="571500"/>
            <a:chOff x="609600" y="4819650"/>
            <a:chExt cx="10972800" cy="571500"/>
          </a:xfrm>
        </p:grpSpPr>
        <p:sp>
          <p:nvSpPr>
            <p:cNvPr id="29" name="Rectangle 29"/>
            <p:cNvSpPr/>
            <p:nvPr/>
          </p:nvSpPr>
          <p:spPr>
            <a:xfrm>
              <a:off x="609600" y="4819650"/>
              <a:ext cx="10972800" cy="571500"/>
            </a:xfrm>
            <a:prstGeom prst="rect">
              <a:avLst/>
            </a:prstGeom>
            <a:solidFill>
              <a:srgbClr val="F1EAD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1723" y="5024914"/>
              <a:ext cx="23789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Alignment with Priorities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42385" y="5041106"/>
              <a:ext cx="62806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Viksit Bharat, Digital India, Bhashini, RTI §6(1), DPDP Act 2023 — reuse, not rebuild.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" y="5410200"/>
            <a:ext cx="10972800" cy="571500"/>
            <a:chOff x="609600" y="5410200"/>
            <a:chExt cx="10972800" cy="571500"/>
          </a:xfrm>
        </p:grpSpPr>
        <p:sp>
          <p:nvSpPr>
            <p:cNvPr id="33" name="Rectangle 33"/>
            <p:cNvSpPr/>
            <p:nvPr/>
          </p:nvSpPr>
          <p:spPr>
            <a:xfrm>
              <a:off x="609600" y="5410200"/>
              <a:ext cx="10972800" cy="571500"/>
            </a:xfrm>
            <a:prstGeom prst="rect">
              <a:avLst/>
            </a:prstGeom>
            <a:solidFill>
              <a:srgbClr val="FBF9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31723" y="5615464"/>
              <a:ext cx="2842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C6488"/>
                  </a:solidFill>
                  <a:latin typeface="Georgia"/>
                  <a:ea typeface="Georgia"/>
                  <a:cs typeface="Georgia"/>
                </a:rPr>
                <a:t>Presentation &amp; Communication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842385" y="5631656"/>
              <a:ext cx="7165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A5162"/>
                  </a:solidFill>
                  <a:latin typeface="Segoe UI"/>
                  <a:ea typeface="Segoe UI"/>
                  <a:cs typeface="Segoe UI"/>
                </a:rPr>
                <a:t>One arc: CAG opened Google Earth by hand. We automated it — then gave Lakshmi a phone number.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4838" y="6191250"/>
            <a:ext cx="10982325" cy="326707"/>
            <a:chOff x="604838" y="6191250"/>
            <a:chExt cx="10982325" cy="326707"/>
          </a:xfrm>
        </p:grpSpPr>
        <p:sp>
          <p:nvSpPr>
            <p:cNvPr id="37" name="Line 37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B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4838" y="6341745"/>
              <a:ext cx="22866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SAAKSHI — the witness for every rupee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81032" y="6341745"/>
              <a:ext cx="25061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8676"/>
                  </a:solidFill>
                  <a:latin typeface="Segoe UI"/>
                  <a:ea typeface="Segoe UI"/>
                  <a:cs typeface="Segoe UI"/>
                </a:rPr>
                <a:t>GovTech &amp; Public Service Delivery · 17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D98A2B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6646" y="659606"/>
            <a:ext cx="3336018" cy="725901"/>
            <a:chOff x="596646" y="659606"/>
            <a:chExt cx="3336018" cy="725901"/>
          </a:xfrm>
        </p:grpSpPr>
        <p:sp>
          <p:nvSpPr>
            <p:cNvPr id="3" name="TextBox 3"/>
            <p:cNvSpPr txBox="1"/>
            <p:nvPr/>
          </p:nvSpPr>
          <p:spPr>
            <a:xfrm>
              <a:off x="603885" y="659606"/>
              <a:ext cx="2020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225" dirty="0">
                  <a:solidFill>
                    <a:srgbClr val="D98A2B"/>
                  </a:solidFill>
                  <a:latin typeface="Segoe UI"/>
                  <a:ea typeface="Segoe UI"/>
                  <a:cs typeface="Segoe UI"/>
                </a:rPr>
                <a:t>TEAM &amp; SUBMISSION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6646" y="886778"/>
              <a:ext cx="33360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F4F0E6"/>
                  </a:solidFill>
                  <a:latin typeface="Georgia"/>
                  <a:ea typeface="Georgia"/>
                  <a:cs typeface="Georgia"/>
                </a:rPr>
                <a:t>Team Information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9600" y="1466850"/>
            <a:ext cx="5905500" cy="2819400"/>
            <a:chOff x="609600" y="1466850"/>
            <a:chExt cx="5905500" cy="2819400"/>
          </a:xfrm>
        </p:grpSpPr>
        <p:sp>
          <p:nvSpPr>
            <p:cNvPr id="6" name="Rectangle 6"/>
            <p:cNvSpPr/>
            <p:nvPr/>
          </p:nvSpPr>
          <p:spPr>
            <a:xfrm>
              <a:off x="609600" y="1466850"/>
              <a:ext cx="5905500" cy="2819400"/>
            </a:xfrm>
            <a:prstGeom prst="roundRect">
              <a:avLst>
                <a:gd name="adj" fmla="val 2703"/>
              </a:avLst>
            </a:prstGeom>
            <a:solidFill>
              <a:srgbClr val="1D2740"/>
            </a:solidFill>
            <a:ln w="9525">
              <a:solidFill>
                <a:srgbClr val="2A345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2485" y="1688306"/>
              <a:ext cx="785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A94AC"/>
                  </a:solidFill>
                  <a:latin typeface="Segoe UI"/>
                  <a:ea typeface="Segoe UI"/>
                  <a:cs typeface="Segoe UI"/>
                </a:rPr>
                <a:t>Team name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818" y="1879282"/>
              <a:ext cx="11301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4F0E6"/>
                  </a:solidFill>
                  <a:latin typeface="Georgia"/>
                  <a:ea typeface="Georgia"/>
                  <a:cs typeface="Georgia"/>
                </a:rPr>
                <a:t>Avengers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8200" y="2228850"/>
              <a:ext cx="5448300" cy="9525"/>
            </a:xfrm>
            <a:custGeom>
              <a:avLst/>
              <a:gdLst/>
              <a:ahLst/>
              <a:cxnLst/>
              <a:rect l="l" t="t" r="r" b="b"/>
              <a:pathLst>
                <a:path w="5448300" h="9525">
                  <a:moveTo>
                    <a:pt x="0" y="0"/>
                  </a:moveTo>
                  <a:lnTo>
                    <a:pt x="5448300" y="0"/>
                  </a:lnTo>
                </a:path>
              </a:pathLst>
            </a:custGeom>
            <a:noFill/>
            <a:ln w="9525">
              <a:solidFill>
                <a:srgbClr val="2A345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2485" y="2393156"/>
              <a:ext cx="45726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4F0E6"/>
                  </a:solidFill>
                  <a:latin typeface="Segoe UI"/>
                  <a:ea typeface="Segoe UI"/>
                  <a:cs typeface="Segoe UI"/>
                </a:rPr>
                <a:t>Harshdip Saha</a:t>
              </a:r>
              <a:r>
                <a:rPr lang="en-US" sz="1120" dirty="0">
                  <a:solidFill>
                    <a:srgbClr val="8A94AC"/>
                  </a:solidFill>
                  <a:latin typeface="Segoe UI"/>
                  <a:ea typeface="Segoe UI"/>
                  <a:cs typeface="Segoe UI"/>
                </a:rPr>
                <a:t xml:space="preserve"> — Team Lead · Backend &amp; Graph (KOSH, queries)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736056"/>
              <a:ext cx="43801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4F0E6"/>
                  </a:solidFill>
                  <a:latin typeface="Segoe UI"/>
                  <a:ea typeface="Segoe UI"/>
                  <a:cs typeface="Segoe UI"/>
                </a:rPr>
                <a:t>Harshdip Saha</a:t>
              </a:r>
              <a:r>
                <a:rPr lang="en-US" sz="1120" dirty="0">
                  <a:solidFill>
                    <a:srgbClr val="8A94AC"/>
                  </a:solidFill>
                  <a:latin typeface="Segoe UI"/>
                  <a:ea typeface="Segoe UI"/>
                  <a:cs typeface="Segoe UI"/>
                </a:rPr>
                <a:t xml:space="preserve"> — ML &amp; Forensics (CHITRAGUPTA, PU learning)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3078956"/>
              <a:ext cx="42596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4F0E6"/>
                  </a:solidFill>
                  <a:latin typeface="Segoe UI"/>
                  <a:ea typeface="Segoe UI"/>
                  <a:cs typeface="Segoe UI"/>
                </a:rPr>
                <a:t>Anshika Singh</a:t>
              </a:r>
              <a:r>
                <a:rPr lang="en-US" sz="1120" dirty="0">
                  <a:solidFill>
                    <a:srgbClr val="8A94AC"/>
                  </a:solidFill>
                  <a:latin typeface="Segoe UI"/>
                  <a:ea typeface="Segoe UI"/>
                  <a:cs typeface="Segoe UI"/>
                </a:rPr>
                <a:t xml:space="preserve"> — Voice &amp; Frontend (VAANI IVR, case-file UI)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2485" y="3421856"/>
              <a:ext cx="40880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4F0E6"/>
                  </a:solidFill>
                  <a:latin typeface="Segoe UI"/>
                  <a:ea typeface="Segoe UI"/>
                  <a:cs typeface="Segoe UI"/>
                </a:rPr>
                <a:t>Anshika Singh</a:t>
              </a:r>
              <a:r>
                <a:rPr lang="en-US" sz="1120" dirty="0">
                  <a:solidFill>
                    <a:srgbClr val="8A94AC"/>
                  </a:solidFill>
                  <a:latin typeface="Segoe UI"/>
                  <a:ea typeface="Segoe UI"/>
                  <a:cs typeface="Segoe UI"/>
                </a:rPr>
                <a:t xml:space="preserve"> — Research &amp; Evidence (impact, sourcing)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3247" y="3876199"/>
              <a:ext cx="48789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8A94AC"/>
                  </a:solidFill>
                  <a:latin typeface="Segoe UI"/>
                  <a:ea typeface="Segoe UI"/>
                  <a:cs typeface="Segoe UI"/>
                </a:rPr>
                <a:t>Netaji Subhas University of Technology (NSUT), Delhi · Indian nationals, 18+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3438" y="4089797"/>
              <a:ext cx="403358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8A94AC"/>
                  </a:solidFill>
                  <a:latin typeface="Segoe UI"/>
                  <a:ea typeface="Segoe UI"/>
                  <a:cs typeface="Segoe UI"/>
                </a:rPr>
                <a:t>harshdip.saha.ug23@nsut.ac.in · anshika.singh.ug23@nsut.ac.in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43700" y="1466850"/>
            <a:ext cx="4838700" cy="2819400"/>
            <a:chOff x="6743700" y="1466850"/>
            <a:chExt cx="4838700" cy="2819400"/>
          </a:xfrm>
        </p:grpSpPr>
        <p:sp>
          <p:nvSpPr>
            <p:cNvPr id="17" name="Rectangle 17"/>
            <p:cNvSpPr/>
            <p:nvPr/>
          </p:nvSpPr>
          <p:spPr>
            <a:xfrm>
              <a:off x="6743700" y="1466850"/>
              <a:ext cx="4838700" cy="2819400"/>
            </a:xfrm>
            <a:prstGeom prst="roundRect">
              <a:avLst>
                <a:gd name="adj" fmla="val 2703"/>
              </a:avLst>
            </a:prstGeom>
            <a:solidFill>
              <a:srgbClr val="1D2740"/>
            </a:solidFill>
            <a:ln w="9525">
              <a:solidFill>
                <a:srgbClr val="2A345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64680" y="1647825"/>
              <a:ext cx="34926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4F0E6"/>
                  </a:solidFill>
                  <a:latin typeface="Georgia"/>
                  <a:ea typeface="Georgia"/>
                  <a:cs typeface="Georgia"/>
                </a:rPr>
                <a:t>What ships with this submission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66585" y="2069306"/>
              <a:ext cx="23929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C9CEDA"/>
                </a:buClr>
                <a:buSzTx/>
                <a:buFontTx/>
                <a:buChar char="•"/>
              </a:pPr>
              <a:r>
                <a:rPr lang="en-US" sz="112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SAAKSHI.pptx — this pitch deck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66585" y="2374106"/>
              <a:ext cx="37348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C9CEDA"/>
                </a:buClr>
                <a:buSzTx/>
                <a:buFontTx/>
                <a:buChar char="•"/>
              </a:pPr>
              <a:r>
                <a:rPr lang="en-US" sz="112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SAAKSHI_Application_Form.docx — full application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66585" y="2678906"/>
              <a:ext cx="40600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C9CEDA"/>
                </a:buClr>
                <a:buSzTx/>
                <a:buFontTx/>
                <a:buChar char="•"/>
              </a:pPr>
              <a:r>
                <a:rPr lang="en-US" sz="112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Runnable prototype repo (MIT) — python run_demo.py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66585" y="2983706"/>
              <a:ext cx="38539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C9CEDA"/>
                </a:buClr>
                <a:buSzTx/>
                <a:buFontTx/>
                <a:buChar char="•"/>
              </a:pPr>
              <a:r>
                <a:rPr lang="en-US" sz="1120" dirty="0">
                  <a:solidFill>
                    <a:srgbClr val="C9CEDA"/>
                  </a:solidFill>
                  <a:latin typeface="Segoe UI"/>
                  <a:ea typeface="Segoe UI"/>
                  <a:cs typeface="Segoe UI"/>
                </a:rPr>
                <a:t>idea.md · PLAN.md · RESEARCH.md — evidence base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972300" y="33147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rgbClr val="2A345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66585" y="3498056"/>
              <a:ext cx="3746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BD6A0"/>
                  </a:solidFill>
                  <a:latin typeface="Segoe UI"/>
                  <a:ea typeface="Segoe UI"/>
                  <a:cs typeface="Segoe UI"/>
                </a:rPr>
                <a:t>MIT licensed · prototype-ready · 10/10 tests pass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6585" y="3802856"/>
              <a:ext cx="36200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BD6A0"/>
                  </a:solidFill>
                  <a:latin typeface="Segoe UI"/>
                  <a:ea typeface="Segoe UI"/>
                  <a:cs typeface="Segoe UI"/>
                </a:rPr>
                <a:t>Every core dependency is open and free by design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4629150"/>
            <a:ext cx="10972800" cy="1390650"/>
            <a:chOff x="609600" y="4629150"/>
            <a:chExt cx="10972800" cy="1390650"/>
          </a:xfrm>
        </p:grpSpPr>
        <p:sp>
          <p:nvSpPr>
            <p:cNvPr id="27" name="Rectangle 27"/>
            <p:cNvSpPr/>
            <p:nvPr/>
          </p:nvSpPr>
          <p:spPr>
            <a:xfrm>
              <a:off x="609600" y="4629150"/>
              <a:ext cx="10972800" cy="1390650"/>
            </a:xfrm>
            <a:prstGeom prst="roundRect">
              <a:avLst>
                <a:gd name="adj" fmla="val 5479"/>
              </a:avLst>
            </a:prstGeom>
            <a:solidFill>
              <a:srgbClr val="D98A2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2970" y="4900612"/>
              <a:ext cx="894684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141B2E"/>
                  </a:solidFill>
                  <a:latin typeface="Georgia"/>
                  <a:ea typeface="Georgia"/>
                  <a:cs typeface="Georgia"/>
                </a:rPr>
                <a:t>Chitragupta keeps the ledger. Saakshi bears witness.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2970" y="5281612"/>
              <a:ext cx="43511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141B2E"/>
                  </a:solidFill>
                  <a:latin typeface="Georgia"/>
                  <a:ea typeface="Georgia"/>
                  <a:cs typeface="Georgia"/>
                </a:rPr>
                <a:t>Bharat asks the question.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8685" y="5707856"/>
              <a:ext cx="824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hi-IN" sz="1120" dirty="0">
                  <a:solidFill>
                    <a:srgbClr val="3A2E14"/>
                  </a:solidFill>
                  <a:latin typeface="Nirmala UI"/>
                  <a:ea typeface="Nirmala UI"/>
                  <a:cs typeface="Nirmala UI"/>
                </a:rPr>
                <a:t>साक्षी</a:t>
              </a:r>
              <a:r>
                <a:rPr lang="en-US" sz="1120" dirty="0">
                  <a:solidFill>
                    <a:srgbClr val="3A2E14"/>
                  </a:solidFill>
                  <a:latin typeface="Segoe UI"/>
                  <a:ea typeface="Segoe UI"/>
                  <a:cs typeface="Segoe UI"/>
                </a:rPr>
                <a:t xml:space="preserve"> — the one who has seen with their own eyes. In her language, on a borrowed phone, for free, in 100 seconds.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360795"/>
            <a:ext cx="10982324" cy="176212"/>
            <a:chOff x="604838" y="6360795"/>
            <a:chExt cx="10982324" cy="176212"/>
          </a:xfrm>
        </p:grpSpPr>
        <p:sp>
          <p:nvSpPr>
            <p:cNvPr id="32" name="TextBox 32"/>
            <p:cNvSpPr txBox="1"/>
            <p:nvPr/>
          </p:nvSpPr>
          <p:spPr>
            <a:xfrm>
              <a:off x="604838" y="6360795"/>
              <a:ext cx="35596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94AC"/>
                  </a:solidFill>
                  <a:latin typeface="Segoe UI"/>
                  <a:ea typeface="Segoe UI"/>
                  <a:cs typeface="Segoe UI"/>
                </a:rPr>
                <a:t>SAAKSHI — TechGig × Optum · Inclusive Innovation for Bharat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71758" y="63607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4AC"/>
                  </a:solidFill>
                  <a:latin typeface="Segoe UI"/>
                  <a:ea typeface="Segoe UI"/>
                  <a:cs typeface="Segoe UI"/>
                </a:rPr>
                <a:t>18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aakshi_deck">
  <a:themeElements>
    <a:clrScheme name="saakshi_dec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aakshi_deck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akshi_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2026-08-04T14:53:05Z</dcterms:created>
  <dcterms:modified xsi:type="dcterms:W3CDTF">2026-08-04T14:53:05Z</dcterms:modified>
  <cp:category/>
  <cp:contentStatus/>
</cp:coreProperties>
</file>